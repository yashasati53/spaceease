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Source Serif Pro" charset="1" panose="02040603050405020204"/>
      <p:regular r:id="rId25"/>
    </p:embeddedFont>
    <p:embeddedFont>
      <p:font typeface="Source Serif Pro Bold" charset="1" panose="02040803050405020204"/>
      <p:regular r:id="rId26"/>
    </p:embeddedFont>
    <p:embeddedFont>
      <p:font typeface="DM Serif Display" charset="1" panose="00000000000000000000"/>
      <p:regular r:id="rId27"/>
    </p:embeddedFont>
    <p:embeddedFont>
      <p:font typeface="Agrandir" charset="1" panose="00000500000000000000"/>
      <p:regular r:id="rId28"/>
    </p:embeddedFont>
    <p:embeddedFont>
      <p:font typeface="Agrandir Bold" charset="1" panose="00000800000000000000"/>
      <p:regular r:id="rId29"/>
    </p:embeddedFont>
    <p:embeddedFont>
      <p:font typeface="Bricolage Grotesque Bold" charset="1" panose="020B060504040200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jpe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928039">
            <a:off x="13354388" y="2963137"/>
            <a:ext cx="6575693" cy="6551782"/>
          </a:xfrm>
          <a:custGeom>
            <a:avLst/>
            <a:gdLst/>
            <a:ahLst/>
            <a:cxnLst/>
            <a:rect r="r" b="b" t="t" l="l"/>
            <a:pathLst>
              <a:path h="6551782" w="6575693">
                <a:moveTo>
                  <a:pt x="0" y="0"/>
                </a:moveTo>
                <a:lnTo>
                  <a:pt x="6575694" y="0"/>
                </a:lnTo>
                <a:lnTo>
                  <a:pt x="6575694" y="6551782"/>
                </a:lnTo>
                <a:lnTo>
                  <a:pt x="0" y="655178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7108" y="3892563"/>
            <a:ext cx="4439609" cy="5652280"/>
          </a:xfrm>
          <a:custGeom>
            <a:avLst/>
            <a:gdLst/>
            <a:ahLst/>
            <a:cxnLst/>
            <a:rect r="r" b="b" t="t" l="l"/>
            <a:pathLst>
              <a:path h="5652280" w="4439609">
                <a:moveTo>
                  <a:pt x="0" y="0"/>
                </a:moveTo>
                <a:lnTo>
                  <a:pt x="4439609" y="0"/>
                </a:lnTo>
                <a:lnTo>
                  <a:pt x="4439609" y="5652280"/>
                </a:lnTo>
                <a:lnTo>
                  <a:pt x="0" y="56522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37808" y="0"/>
            <a:ext cx="2858209" cy="2858209"/>
          </a:xfrm>
          <a:custGeom>
            <a:avLst/>
            <a:gdLst/>
            <a:ahLst/>
            <a:cxnLst/>
            <a:rect r="r" b="b" t="t" l="l"/>
            <a:pathLst>
              <a:path h="2858209" w="2858209">
                <a:moveTo>
                  <a:pt x="0" y="0"/>
                </a:moveTo>
                <a:lnTo>
                  <a:pt x="2858209" y="0"/>
                </a:lnTo>
                <a:lnTo>
                  <a:pt x="2858209" y="2858209"/>
                </a:lnTo>
                <a:lnTo>
                  <a:pt x="0" y="2858209"/>
                </a:lnTo>
                <a:lnTo>
                  <a:pt x="0" y="0"/>
                </a:lnTo>
                <a:close/>
              </a:path>
            </a:pathLst>
          </a:custGeom>
          <a:blipFill>
            <a:blip r:embed="rId6"/>
            <a:stretch>
              <a:fillRect l="0" t="0" r="0" b="0"/>
            </a:stretch>
          </a:blipFill>
        </p:spPr>
      </p:sp>
      <p:sp>
        <p:nvSpPr>
          <p:cNvPr name="TextBox 5" id="5"/>
          <p:cNvSpPr txBox="true"/>
          <p:nvPr/>
        </p:nvSpPr>
        <p:spPr>
          <a:xfrm rot="0">
            <a:off x="718825" y="9239091"/>
            <a:ext cx="8734185" cy="554355"/>
          </a:xfrm>
          <a:prstGeom prst="rect">
            <a:avLst/>
          </a:prstGeom>
        </p:spPr>
        <p:txBody>
          <a:bodyPr anchor="t" rtlCol="false" tIns="0" lIns="0" bIns="0" rIns="0">
            <a:spAutoFit/>
          </a:bodyPr>
          <a:lstStyle/>
          <a:p>
            <a:pPr algn="l" marL="0" indent="0" lvl="0">
              <a:lnSpc>
                <a:spcPts val="4620"/>
              </a:lnSpc>
            </a:pPr>
            <a:r>
              <a:rPr lang="en-US" sz="3300">
                <a:solidFill>
                  <a:srgbClr val="171717"/>
                </a:solidFill>
                <a:latin typeface="Source Serif Pro"/>
                <a:ea typeface="Source Serif Pro"/>
                <a:cs typeface="Source Serif Pro"/>
                <a:sym typeface="Source Serif Pro"/>
              </a:rPr>
              <a:t>By: </a:t>
            </a:r>
            <a:r>
              <a:rPr lang="en-US" sz="3300">
                <a:solidFill>
                  <a:srgbClr val="171717"/>
                </a:solidFill>
                <a:latin typeface="Source Serif Pro"/>
                <a:ea typeface="Source Serif Pro"/>
                <a:cs typeface="Source Serif Pro"/>
                <a:sym typeface="Source Serif Pro"/>
              </a:rPr>
              <a:t>Nandini Laddha &amp; Pooja Kumari</a:t>
            </a:r>
          </a:p>
        </p:txBody>
      </p:sp>
      <p:grpSp>
        <p:nvGrpSpPr>
          <p:cNvPr name="Group 6" id="6"/>
          <p:cNvGrpSpPr/>
          <p:nvPr/>
        </p:nvGrpSpPr>
        <p:grpSpPr>
          <a:xfrm rot="0">
            <a:off x="409815" y="5283947"/>
            <a:ext cx="9285818" cy="3086100"/>
            <a:chOff x="0" y="0"/>
            <a:chExt cx="2445647" cy="812800"/>
          </a:xfrm>
        </p:grpSpPr>
        <p:sp>
          <p:nvSpPr>
            <p:cNvPr name="Freeform 7" id="7"/>
            <p:cNvSpPr/>
            <p:nvPr/>
          </p:nvSpPr>
          <p:spPr>
            <a:xfrm flipH="false" flipV="false" rot="0">
              <a:off x="0" y="0"/>
              <a:ext cx="2445647" cy="812800"/>
            </a:xfrm>
            <a:custGeom>
              <a:avLst/>
              <a:gdLst/>
              <a:ahLst/>
              <a:cxnLst/>
              <a:rect r="r" b="b" t="t" l="l"/>
              <a:pathLst>
                <a:path h="812800" w="2445647">
                  <a:moveTo>
                    <a:pt x="42521" y="0"/>
                  </a:moveTo>
                  <a:lnTo>
                    <a:pt x="2403127" y="0"/>
                  </a:lnTo>
                  <a:cubicBezTo>
                    <a:pt x="2426610" y="0"/>
                    <a:pt x="2445647" y="19037"/>
                    <a:pt x="2445647" y="42521"/>
                  </a:cubicBezTo>
                  <a:lnTo>
                    <a:pt x="2445647" y="770279"/>
                  </a:lnTo>
                  <a:cubicBezTo>
                    <a:pt x="2445647" y="781557"/>
                    <a:pt x="2441168" y="792372"/>
                    <a:pt x="2433194" y="800346"/>
                  </a:cubicBezTo>
                  <a:cubicBezTo>
                    <a:pt x="2425219" y="808320"/>
                    <a:pt x="2414404" y="812800"/>
                    <a:pt x="2403127" y="812800"/>
                  </a:cubicBezTo>
                  <a:lnTo>
                    <a:pt x="42521" y="812800"/>
                  </a:lnTo>
                  <a:cubicBezTo>
                    <a:pt x="19037" y="812800"/>
                    <a:pt x="0" y="793763"/>
                    <a:pt x="0" y="770279"/>
                  </a:cubicBezTo>
                  <a:lnTo>
                    <a:pt x="0" y="42521"/>
                  </a:lnTo>
                  <a:cubicBezTo>
                    <a:pt x="0" y="19037"/>
                    <a:pt x="19037" y="0"/>
                    <a:pt x="42521" y="0"/>
                  </a:cubicBezTo>
                  <a:close/>
                </a:path>
              </a:pathLst>
            </a:custGeom>
            <a:ln w="28575" cap="rnd">
              <a:solidFill>
                <a:srgbClr val="000000"/>
              </a:solidFill>
              <a:prstDash val="solid"/>
              <a:round/>
            </a:ln>
          </p:spPr>
        </p:sp>
        <p:sp>
          <p:nvSpPr>
            <p:cNvPr name="TextBox 8" id="8"/>
            <p:cNvSpPr txBox="true"/>
            <p:nvPr/>
          </p:nvSpPr>
          <p:spPr>
            <a:xfrm>
              <a:off x="0" y="-85725"/>
              <a:ext cx="2445647" cy="898525"/>
            </a:xfrm>
            <a:prstGeom prst="rect">
              <a:avLst/>
            </a:prstGeom>
          </p:spPr>
          <p:txBody>
            <a:bodyPr anchor="ctr" rtlCol="false" tIns="50800" lIns="50800" bIns="50800" rIns="50800"/>
            <a:lstStyle/>
            <a:p>
              <a:pPr algn="ctr">
                <a:lnSpc>
                  <a:spcPts val="2212"/>
                </a:lnSpc>
              </a:pPr>
            </a:p>
          </p:txBody>
        </p:sp>
      </p:grpSp>
      <p:sp>
        <p:nvSpPr>
          <p:cNvPr name="TextBox 9" id="9"/>
          <p:cNvSpPr txBox="true"/>
          <p:nvPr/>
        </p:nvSpPr>
        <p:spPr>
          <a:xfrm rot="0">
            <a:off x="753302" y="5575300"/>
            <a:ext cx="9289005" cy="3683000"/>
          </a:xfrm>
          <a:prstGeom prst="rect">
            <a:avLst/>
          </a:prstGeom>
        </p:spPr>
        <p:txBody>
          <a:bodyPr anchor="t" rtlCol="false" tIns="0" lIns="0" bIns="0" rIns="0">
            <a:spAutoFit/>
          </a:bodyPr>
          <a:lstStyle/>
          <a:p>
            <a:pPr algn="l">
              <a:lnSpc>
                <a:spcPts val="4899"/>
              </a:lnSpc>
              <a:spcBef>
                <a:spcPct val="0"/>
              </a:spcBef>
            </a:pPr>
            <a:r>
              <a:rPr lang="en-US" sz="3499">
                <a:solidFill>
                  <a:srgbClr val="171717"/>
                </a:solidFill>
                <a:latin typeface="Source Serif Pro"/>
                <a:ea typeface="Source Serif Pro"/>
                <a:cs typeface="Source Serif Pro"/>
                <a:sym typeface="Source Serif Pro"/>
              </a:rPr>
              <a:t>Discipline: Faculty of Management Studies</a:t>
            </a:r>
          </a:p>
          <a:p>
            <a:pPr algn="l">
              <a:lnSpc>
                <a:spcPts val="4899"/>
              </a:lnSpc>
              <a:spcBef>
                <a:spcPct val="0"/>
              </a:spcBef>
            </a:pPr>
            <a:r>
              <a:rPr lang="en-US" sz="3499">
                <a:solidFill>
                  <a:srgbClr val="171717"/>
                </a:solidFill>
                <a:latin typeface="Source Serif Pro"/>
                <a:ea typeface="Source Serif Pro"/>
                <a:cs typeface="Source Serif Pro"/>
                <a:sym typeface="Source Serif Pro"/>
              </a:rPr>
              <a:t>Semester: 1</a:t>
            </a:r>
          </a:p>
          <a:p>
            <a:pPr algn="l">
              <a:lnSpc>
                <a:spcPts val="4899"/>
              </a:lnSpc>
              <a:spcBef>
                <a:spcPct val="0"/>
              </a:spcBef>
            </a:pPr>
            <a:r>
              <a:rPr lang="en-US" sz="3499">
                <a:solidFill>
                  <a:srgbClr val="171717"/>
                </a:solidFill>
                <a:latin typeface="Source Serif Pro"/>
                <a:ea typeface="Source Serif Pro"/>
                <a:cs typeface="Source Serif Pro"/>
                <a:sym typeface="Source Serif Pro"/>
              </a:rPr>
              <a:t>Batch: 2025-27</a:t>
            </a:r>
          </a:p>
          <a:p>
            <a:pPr algn="l">
              <a:lnSpc>
                <a:spcPts val="4899"/>
              </a:lnSpc>
              <a:spcBef>
                <a:spcPct val="0"/>
              </a:spcBef>
            </a:pPr>
            <a:r>
              <a:rPr lang="en-US" b="true" sz="3499">
                <a:solidFill>
                  <a:srgbClr val="171717"/>
                </a:solidFill>
                <a:latin typeface="Source Serif Pro Bold"/>
                <a:ea typeface="Source Serif Pro Bold"/>
                <a:cs typeface="Source Serif Pro Bold"/>
                <a:sym typeface="Source Serif Pro Bold"/>
              </a:rPr>
              <a:t>Course Faculty: Prof. Dr. Mahendra Dahiya</a:t>
            </a:r>
          </a:p>
          <a:p>
            <a:pPr algn="l">
              <a:lnSpc>
                <a:spcPts val="4899"/>
              </a:lnSpc>
              <a:spcBef>
                <a:spcPct val="0"/>
              </a:spcBef>
            </a:pPr>
          </a:p>
          <a:p>
            <a:pPr algn="l">
              <a:lnSpc>
                <a:spcPts val="4899"/>
              </a:lnSpc>
              <a:spcBef>
                <a:spcPct val="0"/>
              </a:spcBef>
            </a:pPr>
            <a:r>
              <a:rPr lang="en-US" sz="3499">
                <a:solidFill>
                  <a:srgbClr val="171717"/>
                </a:solidFill>
                <a:latin typeface="Source Serif Pro"/>
                <a:ea typeface="Source Serif Pro"/>
                <a:cs typeface="Source Serif Pro"/>
                <a:sym typeface="Source Serif Pro"/>
              </a:rPr>
              <a:t> </a:t>
            </a:r>
          </a:p>
        </p:txBody>
      </p:sp>
      <p:grpSp>
        <p:nvGrpSpPr>
          <p:cNvPr name="Group 10" id="10"/>
          <p:cNvGrpSpPr/>
          <p:nvPr/>
        </p:nvGrpSpPr>
        <p:grpSpPr>
          <a:xfrm rot="0">
            <a:off x="409815" y="8928465"/>
            <a:ext cx="9285818" cy="1232757"/>
            <a:chOff x="0" y="0"/>
            <a:chExt cx="2445647" cy="324677"/>
          </a:xfrm>
        </p:grpSpPr>
        <p:sp>
          <p:nvSpPr>
            <p:cNvPr name="Freeform 11" id="11"/>
            <p:cNvSpPr/>
            <p:nvPr/>
          </p:nvSpPr>
          <p:spPr>
            <a:xfrm flipH="false" flipV="false" rot="0">
              <a:off x="0" y="0"/>
              <a:ext cx="2445647" cy="324677"/>
            </a:xfrm>
            <a:custGeom>
              <a:avLst/>
              <a:gdLst/>
              <a:ahLst/>
              <a:cxnLst/>
              <a:rect r="r" b="b" t="t" l="l"/>
              <a:pathLst>
                <a:path h="324677" w="2445647">
                  <a:moveTo>
                    <a:pt x="42521" y="0"/>
                  </a:moveTo>
                  <a:lnTo>
                    <a:pt x="2403127" y="0"/>
                  </a:lnTo>
                  <a:cubicBezTo>
                    <a:pt x="2426610" y="0"/>
                    <a:pt x="2445647" y="19037"/>
                    <a:pt x="2445647" y="42521"/>
                  </a:cubicBezTo>
                  <a:lnTo>
                    <a:pt x="2445647" y="282156"/>
                  </a:lnTo>
                  <a:cubicBezTo>
                    <a:pt x="2445647" y="293433"/>
                    <a:pt x="2441168" y="304249"/>
                    <a:pt x="2433194" y="312223"/>
                  </a:cubicBezTo>
                  <a:cubicBezTo>
                    <a:pt x="2425219" y="320197"/>
                    <a:pt x="2414404" y="324677"/>
                    <a:pt x="2403127" y="324677"/>
                  </a:cubicBezTo>
                  <a:lnTo>
                    <a:pt x="42521" y="324677"/>
                  </a:lnTo>
                  <a:cubicBezTo>
                    <a:pt x="19037" y="324677"/>
                    <a:pt x="0" y="305640"/>
                    <a:pt x="0" y="282156"/>
                  </a:cubicBezTo>
                  <a:lnTo>
                    <a:pt x="0" y="42521"/>
                  </a:lnTo>
                  <a:cubicBezTo>
                    <a:pt x="0" y="19037"/>
                    <a:pt x="19037" y="0"/>
                    <a:pt x="42521" y="0"/>
                  </a:cubicBezTo>
                  <a:close/>
                </a:path>
              </a:pathLst>
            </a:custGeom>
            <a:ln w="28575" cap="rnd">
              <a:solidFill>
                <a:srgbClr val="000000"/>
              </a:solidFill>
              <a:prstDash val="solid"/>
              <a:round/>
            </a:ln>
          </p:spPr>
        </p:sp>
        <p:sp>
          <p:nvSpPr>
            <p:cNvPr name="TextBox 12" id="12"/>
            <p:cNvSpPr txBox="true"/>
            <p:nvPr/>
          </p:nvSpPr>
          <p:spPr>
            <a:xfrm>
              <a:off x="0" y="-66675"/>
              <a:ext cx="2445647" cy="391352"/>
            </a:xfrm>
            <a:prstGeom prst="rect">
              <a:avLst/>
            </a:prstGeom>
          </p:spPr>
          <p:txBody>
            <a:bodyPr anchor="ctr" rtlCol="false" tIns="50800" lIns="50800" bIns="50800" rIns="50800"/>
            <a:lstStyle/>
            <a:p>
              <a:pPr algn="ctr">
                <a:lnSpc>
                  <a:spcPts val="2072"/>
                </a:lnSpc>
              </a:pPr>
            </a:p>
          </p:txBody>
        </p:sp>
      </p:grpSp>
      <p:sp>
        <p:nvSpPr>
          <p:cNvPr name="TextBox 13" id="13"/>
          <p:cNvSpPr txBox="true"/>
          <p:nvPr/>
        </p:nvSpPr>
        <p:spPr>
          <a:xfrm rot="0">
            <a:off x="718825" y="830738"/>
            <a:ext cx="14035532" cy="651850"/>
          </a:xfrm>
          <a:prstGeom prst="rect">
            <a:avLst/>
          </a:prstGeom>
        </p:spPr>
        <p:txBody>
          <a:bodyPr anchor="t" rtlCol="false" tIns="0" lIns="0" bIns="0" rIns="0">
            <a:spAutoFit/>
          </a:bodyPr>
          <a:lstStyle/>
          <a:p>
            <a:pPr algn="l" marL="0" indent="0" lvl="0">
              <a:lnSpc>
                <a:spcPts val="5121"/>
              </a:lnSpc>
            </a:pPr>
            <a:r>
              <a:rPr lang="en-US" sz="4232">
                <a:solidFill>
                  <a:srgbClr val="171717"/>
                </a:solidFill>
                <a:latin typeface="Source Serif Pro"/>
                <a:ea typeface="Source Serif Pro"/>
                <a:cs typeface="Source Serif Pro"/>
                <a:sym typeface="Source Serif Pro"/>
              </a:rPr>
              <a:t>National Institute of Fashion Technology, Jodhpur</a:t>
            </a:r>
          </a:p>
        </p:txBody>
      </p:sp>
      <p:sp>
        <p:nvSpPr>
          <p:cNvPr name="TextBox 14" id="14"/>
          <p:cNvSpPr txBox="true"/>
          <p:nvPr/>
        </p:nvSpPr>
        <p:spPr>
          <a:xfrm rot="0">
            <a:off x="718825" y="3340209"/>
            <a:ext cx="12734079" cy="1047558"/>
          </a:xfrm>
          <a:prstGeom prst="rect">
            <a:avLst/>
          </a:prstGeom>
        </p:spPr>
        <p:txBody>
          <a:bodyPr anchor="t" rtlCol="false" tIns="0" lIns="0" bIns="0" rIns="0">
            <a:spAutoFit/>
          </a:bodyPr>
          <a:lstStyle/>
          <a:p>
            <a:pPr algn="l">
              <a:lnSpc>
                <a:spcPts val="4210"/>
              </a:lnSpc>
            </a:pPr>
            <a:r>
              <a:rPr lang="en-US" sz="3007">
                <a:solidFill>
                  <a:srgbClr val="171717"/>
                </a:solidFill>
                <a:latin typeface="Source Serif Pro"/>
                <a:ea typeface="Source Serif Pro"/>
                <a:cs typeface="Source Serif Pro"/>
                <a:sym typeface="Source Serif Pro"/>
              </a:rPr>
              <a:t>Economic Structure and Macroeconomic Impact of SpaceEase Organisers (Hypothetical Brand)</a:t>
            </a:r>
          </a:p>
        </p:txBody>
      </p:sp>
      <p:sp>
        <p:nvSpPr>
          <p:cNvPr name="TextBox 15" id="15"/>
          <p:cNvSpPr txBox="true"/>
          <p:nvPr/>
        </p:nvSpPr>
        <p:spPr>
          <a:xfrm rot="0">
            <a:off x="718825" y="1940166"/>
            <a:ext cx="14035532" cy="1142949"/>
          </a:xfrm>
          <a:prstGeom prst="rect">
            <a:avLst/>
          </a:prstGeom>
        </p:spPr>
        <p:txBody>
          <a:bodyPr anchor="t" rtlCol="false" tIns="0" lIns="0" bIns="0" rIns="0">
            <a:spAutoFit/>
          </a:bodyPr>
          <a:lstStyle/>
          <a:p>
            <a:pPr algn="l" marL="0" indent="0" lvl="0">
              <a:lnSpc>
                <a:spcPts val="9123"/>
              </a:lnSpc>
            </a:pPr>
            <a:r>
              <a:rPr lang="en-US" sz="7539" spc="-490">
                <a:solidFill>
                  <a:srgbClr val="171717"/>
                </a:solidFill>
                <a:latin typeface="DM Serif Display"/>
                <a:ea typeface="DM Serif Display"/>
                <a:cs typeface="DM Serif Display"/>
                <a:sym typeface="DM Serif Display"/>
              </a:rPr>
              <a:t>Managerial Economics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327317" y="779091"/>
            <a:ext cx="1564422"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CONTENT</a:t>
            </a:r>
          </a:p>
        </p:txBody>
      </p:sp>
      <p:sp>
        <p:nvSpPr>
          <p:cNvPr name="TextBox 4" id="4"/>
          <p:cNvSpPr txBox="true"/>
          <p:nvPr/>
        </p:nvSpPr>
        <p:spPr>
          <a:xfrm rot="0">
            <a:off x="16234639" y="779091"/>
            <a:ext cx="1564422"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OTHERS</a:t>
            </a:r>
          </a:p>
        </p:txBody>
      </p:sp>
      <p:sp>
        <p:nvSpPr>
          <p:cNvPr name="TextBox 5" id="5"/>
          <p:cNvSpPr txBox="true"/>
          <p:nvPr/>
        </p:nvSpPr>
        <p:spPr>
          <a:xfrm rot="0">
            <a:off x="11126917" y="779091"/>
            <a:ext cx="922798"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HOME</a:t>
            </a:r>
          </a:p>
        </p:txBody>
      </p:sp>
      <p:sp>
        <p:nvSpPr>
          <p:cNvPr name="TextBox 6" id="6"/>
          <p:cNvSpPr txBox="true"/>
          <p:nvPr/>
        </p:nvSpPr>
        <p:spPr>
          <a:xfrm rot="0">
            <a:off x="12612817" y="779091"/>
            <a:ext cx="922798"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ABOUT</a:t>
            </a:r>
          </a:p>
        </p:txBody>
      </p:sp>
      <p:sp>
        <p:nvSpPr>
          <p:cNvPr name="TextBox 7" id="7"/>
          <p:cNvSpPr txBox="true"/>
          <p:nvPr/>
        </p:nvSpPr>
        <p:spPr>
          <a:xfrm rot="0">
            <a:off x="7306610" y="1698662"/>
            <a:ext cx="9952690" cy="981075"/>
          </a:xfrm>
          <a:prstGeom prst="rect">
            <a:avLst/>
          </a:prstGeom>
        </p:spPr>
        <p:txBody>
          <a:bodyPr anchor="t" rtlCol="false" tIns="0" lIns="0" bIns="0" rIns="0">
            <a:spAutoFit/>
          </a:bodyPr>
          <a:lstStyle/>
          <a:p>
            <a:pPr algn="just" marL="0" indent="0" lvl="0">
              <a:lnSpc>
                <a:spcPts val="7350"/>
              </a:lnSpc>
            </a:pPr>
            <a:r>
              <a:rPr lang="en-US" b="true" sz="7500" spc="-487">
                <a:solidFill>
                  <a:srgbClr val="171717"/>
                </a:solidFill>
                <a:latin typeface="Source Serif Pro Bold"/>
                <a:ea typeface="Source Serif Pro Bold"/>
                <a:cs typeface="Source Serif Pro Bold"/>
                <a:sym typeface="Source Serif Pro Bold"/>
              </a:rPr>
              <a:t>SpaceEase Organisers </a:t>
            </a:r>
          </a:p>
        </p:txBody>
      </p:sp>
      <p:sp>
        <p:nvSpPr>
          <p:cNvPr name="TextBox 8" id="8"/>
          <p:cNvSpPr txBox="true"/>
          <p:nvPr/>
        </p:nvSpPr>
        <p:spPr>
          <a:xfrm rot="0">
            <a:off x="7312957" y="3001265"/>
            <a:ext cx="9473516" cy="6623101"/>
          </a:xfrm>
          <a:prstGeom prst="rect">
            <a:avLst/>
          </a:prstGeom>
        </p:spPr>
        <p:txBody>
          <a:bodyPr anchor="t" rtlCol="false" tIns="0" lIns="0" bIns="0" rIns="0">
            <a:spAutoFit/>
          </a:bodyPr>
          <a:lstStyle/>
          <a:p>
            <a:pPr algn="just">
              <a:lnSpc>
                <a:spcPts val="3497"/>
              </a:lnSpc>
            </a:pPr>
            <a:r>
              <a:rPr lang="en-US" sz="2497" b="true">
                <a:solidFill>
                  <a:srgbClr val="171717"/>
                </a:solidFill>
                <a:latin typeface="Agrandir Bold"/>
                <a:ea typeface="Agrandir Bold"/>
                <a:cs typeface="Agrandir Bold"/>
                <a:sym typeface="Agrandir Bold"/>
              </a:rPr>
              <a:t>Tagline: Sustainable Living Solution</a:t>
            </a:r>
          </a:p>
          <a:p>
            <a:pPr algn="just">
              <a:lnSpc>
                <a:spcPts val="3497"/>
              </a:lnSpc>
            </a:pPr>
          </a:p>
          <a:p>
            <a:pPr algn="just">
              <a:lnSpc>
                <a:spcPts val="3497"/>
              </a:lnSpc>
            </a:pPr>
            <a:r>
              <a:rPr lang="en-US" sz="2497">
                <a:solidFill>
                  <a:srgbClr val="171717"/>
                </a:solidFill>
                <a:latin typeface="Agrandir"/>
                <a:ea typeface="Agrandir"/>
                <a:cs typeface="Agrandir"/>
                <a:sym typeface="Agrandir"/>
              </a:rPr>
              <a:t>SpaceEase Organisers Pvt. Ltd. is a design-driven, sustainable brand specialising in modular home and office organisers that redefine the way people use space. Based in Jodhpur, Rajasthan, the company merges functionality with aesthetic design to help urban consumers live smarter in compact environments.</a:t>
            </a:r>
          </a:p>
          <a:p>
            <a:pPr algn="just">
              <a:lnSpc>
                <a:spcPts val="3497"/>
              </a:lnSpc>
            </a:pPr>
          </a:p>
          <a:p>
            <a:pPr algn="just">
              <a:lnSpc>
                <a:spcPts val="3497"/>
              </a:lnSpc>
            </a:pPr>
            <a:r>
              <a:rPr lang="en-US" sz="2497">
                <a:solidFill>
                  <a:srgbClr val="171717"/>
                </a:solidFill>
                <a:latin typeface="Agrandir"/>
                <a:ea typeface="Agrandir"/>
                <a:cs typeface="Agrandir"/>
                <a:sym typeface="Agrandir"/>
              </a:rPr>
              <a:t>At its core, SpaceEase Organisers believes that “Space is luxury - and design makes it accessible.” The brand addresses the growing problem of limited living space in Indian cities by offering affordable, eco-friendly, and customisable solutions that enhance both utility and comfort.</a:t>
            </a:r>
          </a:p>
          <a:p>
            <a:pPr algn="just">
              <a:lnSpc>
                <a:spcPts val="3497"/>
              </a:lnSpc>
            </a:pPr>
          </a:p>
        </p:txBody>
      </p:sp>
      <p:sp>
        <p:nvSpPr>
          <p:cNvPr name="Freeform 9" id="9"/>
          <p:cNvSpPr/>
          <p:nvPr/>
        </p:nvSpPr>
        <p:spPr>
          <a:xfrm flipH="false" flipV="false" rot="0">
            <a:off x="-831107" y="6128498"/>
            <a:ext cx="2449471" cy="2546709"/>
          </a:xfrm>
          <a:custGeom>
            <a:avLst/>
            <a:gdLst/>
            <a:ahLst/>
            <a:cxnLst/>
            <a:rect r="r" b="b" t="t" l="l"/>
            <a:pathLst>
              <a:path h="2546709" w="2449471">
                <a:moveTo>
                  <a:pt x="0" y="0"/>
                </a:moveTo>
                <a:lnTo>
                  <a:pt x="2449471" y="0"/>
                </a:lnTo>
                <a:lnTo>
                  <a:pt x="2449471" y="2546710"/>
                </a:lnTo>
                <a:lnTo>
                  <a:pt x="0" y="2546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7815726"/>
            <a:ext cx="3123683" cy="2885147"/>
          </a:xfrm>
          <a:custGeom>
            <a:avLst/>
            <a:gdLst/>
            <a:ahLst/>
            <a:cxnLst/>
            <a:rect r="r" b="b" t="t" l="l"/>
            <a:pathLst>
              <a:path h="2885147" w="3123683">
                <a:moveTo>
                  <a:pt x="0" y="0"/>
                </a:moveTo>
                <a:lnTo>
                  <a:pt x="3123683" y="0"/>
                </a:lnTo>
                <a:lnTo>
                  <a:pt x="3123683" y="2885148"/>
                </a:lnTo>
                <a:lnTo>
                  <a:pt x="0" y="28851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162660" y="1536737"/>
            <a:ext cx="4046138" cy="4223220"/>
          </a:xfrm>
          <a:custGeom>
            <a:avLst/>
            <a:gdLst/>
            <a:ahLst/>
            <a:cxnLst/>
            <a:rect r="r" b="b" t="t" l="l"/>
            <a:pathLst>
              <a:path h="4223220" w="4046138">
                <a:moveTo>
                  <a:pt x="0" y="0"/>
                </a:moveTo>
                <a:lnTo>
                  <a:pt x="4046138" y="0"/>
                </a:lnTo>
                <a:lnTo>
                  <a:pt x="4046138" y="4223220"/>
                </a:lnTo>
                <a:lnTo>
                  <a:pt x="0" y="4223220"/>
                </a:lnTo>
                <a:lnTo>
                  <a:pt x="0" y="0"/>
                </a:lnTo>
                <a:close/>
              </a:path>
            </a:pathLst>
          </a:custGeom>
          <a:blipFill>
            <a:blip r:embed="rId8"/>
            <a:stretch>
              <a:fillRect l="-36220" t="-34046" r="-37835" b="-3271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327317" y="779091"/>
            <a:ext cx="1564422"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CONTENT</a:t>
            </a:r>
          </a:p>
        </p:txBody>
      </p:sp>
      <p:sp>
        <p:nvSpPr>
          <p:cNvPr name="TextBox 4" id="4"/>
          <p:cNvSpPr txBox="true"/>
          <p:nvPr/>
        </p:nvSpPr>
        <p:spPr>
          <a:xfrm rot="0">
            <a:off x="16234639" y="779091"/>
            <a:ext cx="1564422"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OTHERS</a:t>
            </a:r>
          </a:p>
        </p:txBody>
      </p:sp>
      <p:sp>
        <p:nvSpPr>
          <p:cNvPr name="TextBox 5" id="5"/>
          <p:cNvSpPr txBox="true"/>
          <p:nvPr/>
        </p:nvSpPr>
        <p:spPr>
          <a:xfrm rot="0">
            <a:off x="11126917" y="779091"/>
            <a:ext cx="922798"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HOME</a:t>
            </a:r>
          </a:p>
        </p:txBody>
      </p:sp>
      <p:sp>
        <p:nvSpPr>
          <p:cNvPr name="TextBox 6" id="6"/>
          <p:cNvSpPr txBox="true"/>
          <p:nvPr/>
        </p:nvSpPr>
        <p:spPr>
          <a:xfrm rot="0">
            <a:off x="12612817" y="779091"/>
            <a:ext cx="922798" cy="321818"/>
          </a:xfrm>
          <a:prstGeom prst="rect">
            <a:avLst/>
          </a:prstGeom>
        </p:spPr>
        <p:txBody>
          <a:bodyPr anchor="t" rtlCol="false" tIns="0" lIns="0" bIns="0" rIns="0">
            <a:spAutoFit/>
          </a:bodyPr>
          <a:lstStyle/>
          <a:p>
            <a:pPr algn="l">
              <a:lnSpc>
                <a:spcPts val="2212"/>
              </a:lnSpc>
              <a:spcBef>
                <a:spcPct val="0"/>
              </a:spcBef>
            </a:pPr>
            <a:r>
              <a:rPr lang="en-US" sz="1580">
                <a:solidFill>
                  <a:srgbClr val="171717"/>
                </a:solidFill>
                <a:latin typeface="Agrandir"/>
                <a:ea typeface="Agrandir"/>
                <a:cs typeface="Agrandir"/>
                <a:sym typeface="Agrandir"/>
              </a:rPr>
              <a:t>ABOUT</a:t>
            </a:r>
          </a:p>
        </p:txBody>
      </p:sp>
      <p:sp>
        <p:nvSpPr>
          <p:cNvPr name="TextBox 7" id="7"/>
          <p:cNvSpPr txBox="true"/>
          <p:nvPr/>
        </p:nvSpPr>
        <p:spPr>
          <a:xfrm rot="0">
            <a:off x="5592301" y="1566194"/>
            <a:ext cx="11265944" cy="971549"/>
          </a:xfrm>
          <a:prstGeom prst="rect">
            <a:avLst/>
          </a:prstGeom>
        </p:spPr>
        <p:txBody>
          <a:bodyPr anchor="t" rtlCol="false" tIns="0" lIns="0" bIns="0" rIns="0">
            <a:spAutoFit/>
          </a:bodyPr>
          <a:lstStyle/>
          <a:p>
            <a:pPr algn="just" marL="0" indent="0" lvl="0">
              <a:lnSpc>
                <a:spcPts val="7349"/>
              </a:lnSpc>
            </a:pPr>
            <a:r>
              <a:rPr lang="en-US" b="true" sz="7499" spc="-487">
                <a:solidFill>
                  <a:srgbClr val="171717"/>
                </a:solidFill>
                <a:latin typeface="Source Serif Pro Bold"/>
                <a:ea typeface="Source Serif Pro Bold"/>
                <a:cs typeface="Source Serif Pro Bold"/>
                <a:sym typeface="Source Serif Pro Bold"/>
              </a:rPr>
              <a:t>📦Industr</a:t>
            </a:r>
            <a:r>
              <a:rPr lang="en-US" b="true" sz="7499" spc="-487">
                <a:solidFill>
                  <a:srgbClr val="171717"/>
                </a:solidFill>
                <a:latin typeface="Source Serif Pro Bold"/>
                <a:ea typeface="Source Serif Pro Bold"/>
                <a:cs typeface="Source Serif Pro Bold"/>
                <a:sym typeface="Source Serif Pro Bold"/>
              </a:rPr>
              <a:t>y Overview</a:t>
            </a:r>
          </a:p>
        </p:txBody>
      </p:sp>
      <p:sp>
        <p:nvSpPr>
          <p:cNvPr name="Freeform 8" id="8"/>
          <p:cNvSpPr/>
          <p:nvPr/>
        </p:nvSpPr>
        <p:spPr>
          <a:xfrm flipH="false" flipV="false" rot="0">
            <a:off x="-3093320" y="5143500"/>
            <a:ext cx="8017578" cy="5143500"/>
          </a:xfrm>
          <a:custGeom>
            <a:avLst/>
            <a:gdLst/>
            <a:ahLst/>
            <a:cxnLst/>
            <a:rect r="r" b="b" t="t" l="l"/>
            <a:pathLst>
              <a:path h="5143500" w="8017578">
                <a:moveTo>
                  <a:pt x="0" y="0"/>
                </a:moveTo>
                <a:lnTo>
                  <a:pt x="8017578" y="0"/>
                </a:lnTo>
                <a:lnTo>
                  <a:pt x="8017578" y="5143500"/>
                </a:lnTo>
                <a:lnTo>
                  <a:pt x="0" y="5143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592301" y="2450671"/>
            <a:ext cx="12206760" cy="7836329"/>
          </a:xfrm>
          <a:prstGeom prst="rect">
            <a:avLst/>
          </a:prstGeom>
        </p:spPr>
        <p:txBody>
          <a:bodyPr anchor="t" rtlCol="false" tIns="0" lIns="0" bIns="0" rIns="0">
            <a:spAutoFit/>
          </a:bodyPr>
          <a:lstStyle/>
          <a:p>
            <a:pPr algn="l">
              <a:lnSpc>
                <a:spcPts val="3826"/>
              </a:lnSpc>
            </a:pPr>
          </a:p>
          <a:p>
            <a:pPr algn="l" marL="590081" indent="-295040" lvl="1">
              <a:lnSpc>
                <a:spcPts val="3826"/>
              </a:lnSpc>
              <a:buFont typeface="Arial"/>
              <a:buChar char="•"/>
            </a:pPr>
            <a:r>
              <a:rPr lang="en-US" sz="2733">
                <a:solidFill>
                  <a:srgbClr val="171717"/>
                </a:solidFill>
                <a:latin typeface="Agrandir"/>
                <a:ea typeface="Agrandir"/>
                <a:cs typeface="Agrandir"/>
                <a:sym typeface="Agrandir"/>
              </a:rPr>
              <a:t>Urbanisation and small homes are driving demand for space-saving modular furniture.</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Millennials and professionals prefer foldable, multifunctional, easy-to-move organisers.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E-commerce growth is making modular furniture more accessible and affordable.</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Sustainability awareness is increasing demand for eco-friendly materials.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The market is competitive and fragmented, with both big brands and local carpenters.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WFH and hybrid lifestyles continue to boost demand for study tables and workstations.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Overall, the industry shows strong growth potential for innovative brands like SpaceEase.</a:t>
            </a:r>
          </a:p>
          <a:p>
            <a:pPr algn="l">
              <a:lnSpc>
                <a:spcPts val="382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grpSp>
        <p:nvGrpSpPr>
          <p:cNvPr name="Group 2" id="2"/>
          <p:cNvGrpSpPr/>
          <p:nvPr/>
        </p:nvGrpSpPr>
        <p:grpSpPr>
          <a:xfrm rot="0">
            <a:off x="13168640" y="1774034"/>
            <a:ext cx="6443379" cy="6738931"/>
            <a:chOff x="0" y="0"/>
            <a:chExt cx="8591171" cy="8985242"/>
          </a:xfrm>
        </p:grpSpPr>
        <p:sp>
          <p:nvSpPr>
            <p:cNvPr name="Freeform 3" id="3"/>
            <p:cNvSpPr/>
            <p:nvPr/>
          </p:nvSpPr>
          <p:spPr>
            <a:xfrm flipH="false" flipV="false" rot="0">
              <a:off x="1210417" y="2202556"/>
              <a:ext cx="6744081" cy="5711984"/>
            </a:xfrm>
            <a:custGeom>
              <a:avLst/>
              <a:gdLst/>
              <a:ahLst/>
              <a:cxnLst/>
              <a:rect r="r" b="b" t="t" l="l"/>
              <a:pathLst>
                <a:path h="5711984" w="6744081">
                  <a:moveTo>
                    <a:pt x="0" y="0"/>
                  </a:moveTo>
                  <a:lnTo>
                    <a:pt x="6744081" y="0"/>
                  </a:lnTo>
                  <a:lnTo>
                    <a:pt x="6744081" y="5711985"/>
                  </a:lnTo>
                  <a:lnTo>
                    <a:pt x="0" y="57119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984692">
              <a:off x="5329083" y="551864"/>
              <a:ext cx="2704712" cy="2714583"/>
            </a:xfrm>
            <a:custGeom>
              <a:avLst/>
              <a:gdLst/>
              <a:ahLst/>
              <a:cxnLst/>
              <a:rect r="r" b="b" t="t" l="l"/>
              <a:pathLst>
                <a:path h="2714583" w="2704712">
                  <a:moveTo>
                    <a:pt x="0" y="0"/>
                  </a:moveTo>
                  <a:lnTo>
                    <a:pt x="2704712" y="0"/>
                  </a:lnTo>
                  <a:lnTo>
                    <a:pt x="2704712" y="2714583"/>
                  </a:lnTo>
                  <a:lnTo>
                    <a:pt x="0" y="2714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4382172">
              <a:off x="297101" y="6326391"/>
              <a:ext cx="2360307" cy="2368921"/>
            </a:xfrm>
            <a:custGeom>
              <a:avLst/>
              <a:gdLst/>
              <a:ahLst/>
              <a:cxnLst/>
              <a:rect r="r" b="b" t="t" l="l"/>
              <a:pathLst>
                <a:path h="2368921" w="2360307">
                  <a:moveTo>
                    <a:pt x="0" y="0"/>
                  </a:moveTo>
                  <a:lnTo>
                    <a:pt x="2360306" y="0"/>
                  </a:lnTo>
                  <a:lnTo>
                    <a:pt x="2360306" y="2368920"/>
                  </a:lnTo>
                  <a:lnTo>
                    <a:pt x="0" y="23689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6" id="6"/>
          <p:cNvSpPr txBox="true"/>
          <p:nvPr/>
        </p:nvSpPr>
        <p:spPr>
          <a:xfrm rot="0">
            <a:off x="1653401" y="627584"/>
            <a:ext cx="8159930" cy="920216"/>
          </a:xfrm>
          <a:prstGeom prst="rect">
            <a:avLst/>
          </a:prstGeom>
        </p:spPr>
        <p:txBody>
          <a:bodyPr anchor="t" rtlCol="false" tIns="0" lIns="0" bIns="0" rIns="0">
            <a:spAutoFit/>
          </a:bodyPr>
          <a:lstStyle/>
          <a:p>
            <a:pPr algn="l">
              <a:lnSpc>
                <a:spcPts val="6835"/>
              </a:lnSpc>
            </a:pPr>
            <a:r>
              <a:rPr lang="en-US" sz="7046" spc="-458" b="true">
                <a:solidFill>
                  <a:srgbClr val="171717"/>
                </a:solidFill>
                <a:latin typeface="Source Serif Pro Bold"/>
                <a:ea typeface="Source Serif Pro Bold"/>
                <a:cs typeface="Source Serif Pro Bold"/>
                <a:sym typeface="Source Serif Pro Bold"/>
              </a:rPr>
              <a:t>Concept &amp; Ideation</a:t>
            </a:r>
          </a:p>
        </p:txBody>
      </p:sp>
      <p:sp>
        <p:nvSpPr>
          <p:cNvPr name="TextBox 7" id="7"/>
          <p:cNvSpPr txBox="true"/>
          <p:nvPr/>
        </p:nvSpPr>
        <p:spPr>
          <a:xfrm rot="0">
            <a:off x="1653401" y="1970530"/>
            <a:ext cx="10448582" cy="7350554"/>
          </a:xfrm>
          <a:prstGeom prst="rect">
            <a:avLst/>
          </a:prstGeom>
        </p:spPr>
        <p:txBody>
          <a:bodyPr anchor="t" rtlCol="false" tIns="0" lIns="0" bIns="0" rIns="0">
            <a:spAutoFit/>
          </a:bodyPr>
          <a:lstStyle/>
          <a:p>
            <a:pPr algn="l">
              <a:lnSpc>
                <a:spcPts val="3826"/>
              </a:lnSpc>
            </a:pPr>
            <a:r>
              <a:rPr lang="en-US" sz="2733">
                <a:solidFill>
                  <a:srgbClr val="171717"/>
                </a:solidFill>
                <a:latin typeface="Agrandir"/>
                <a:ea typeface="Agrandir"/>
                <a:cs typeface="Agrandir"/>
                <a:sym typeface="Agrandir"/>
              </a:rPr>
              <a:t> 🎯</a:t>
            </a:r>
            <a:r>
              <a:rPr lang="en-US" sz="2733" b="true">
                <a:solidFill>
                  <a:srgbClr val="171717"/>
                </a:solidFill>
                <a:latin typeface="Agrandir Bold"/>
                <a:ea typeface="Agrandir Bold"/>
                <a:cs typeface="Agrandir Bold"/>
                <a:sym typeface="Agrandir Bold"/>
              </a:rPr>
              <a:t>Core Idea</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C</a:t>
            </a:r>
            <a:r>
              <a:rPr lang="en-US" sz="2733">
                <a:solidFill>
                  <a:srgbClr val="171717"/>
                </a:solidFill>
                <a:latin typeface="Agrandir"/>
                <a:ea typeface="Agrandir"/>
                <a:cs typeface="Agrandir"/>
                <a:sym typeface="Agrandir"/>
              </a:rPr>
              <a:t>reate modular, foldable, sustainable furniture for compact Indian homes.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Solve urban issues: limited space, rising population, sustainability needs.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B</a:t>
            </a:r>
            <a:r>
              <a:rPr lang="en-US" sz="2733">
                <a:solidFill>
                  <a:srgbClr val="171717"/>
                </a:solidFill>
                <a:latin typeface="Agrandir"/>
                <a:ea typeface="Agrandir"/>
                <a:cs typeface="Agrandir"/>
                <a:sym typeface="Agrandir"/>
              </a:rPr>
              <a:t>rand philosophy: “Designing Space. Defining Comfort.”</a:t>
            </a:r>
          </a:p>
          <a:p>
            <a:pPr algn="l">
              <a:lnSpc>
                <a:spcPts val="3826"/>
              </a:lnSpc>
            </a:pPr>
            <a:r>
              <a:rPr lang="en-US" sz="2733">
                <a:solidFill>
                  <a:srgbClr val="171717"/>
                </a:solidFill>
                <a:latin typeface="Agrandir"/>
                <a:ea typeface="Agrandir"/>
                <a:cs typeface="Agrandir"/>
                <a:sym typeface="Agrandir"/>
              </a:rPr>
              <a:t>💡 </a:t>
            </a:r>
            <a:r>
              <a:rPr lang="en-US" sz="2733" b="true">
                <a:solidFill>
                  <a:srgbClr val="171717"/>
                </a:solidFill>
                <a:latin typeface="Agrandir Bold"/>
                <a:ea typeface="Agrandir Bold"/>
                <a:cs typeface="Agrandir Bold"/>
                <a:sym typeface="Agrandir Bold"/>
              </a:rPr>
              <a:t>Unique Value </a:t>
            </a:r>
            <a:r>
              <a:rPr lang="en-US" sz="2733" b="true">
                <a:solidFill>
                  <a:srgbClr val="171717"/>
                </a:solidFill>
                <a:latin typeface="Agrandir Bold"/>
                <a:ea typeface="Agrandir Bold"/>
                <a:cs typeface="Agrandir Bold"/>
                <a:sym typeface="Agrandir Bold"/>
              </a:rPr>
              <a:t>Proposition (UVP)</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Sustainable, affordable, modular furniture tailored for small spaces.</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USP: Eco-luxury + functionality for modern compact living.</a:t>
            </a:r>
          </a:p>
          <a:p>
            <a:pPr algn="l">
              <a:lnSpc>
                <a:spcPts val="3826"/>
              </a:lnSpc>
            </a:pPr>
            <a:r>
              <a:rPr lang="en-US" sz="2733">
                <a:solidFill>
                  <a:srgbClr val="171717"/>
                </a:solidFill>
                <a:latin typeface="Agrandir"/>
                <a:ea typeface="Agrandir"/>
                <a:cs typeface="Agrandir"/>
                <a:sym typeface="Agrandir"/>
              </a:rPr>
              <a:t>🧩</a:t>
            </a:r>
            <a:r>
              <a:rPr lang="en-US" sz="2733" b="true">
                <a:solidFill>
                  <a:srgbClr val="171717"/>
                </a:solidFill>
                <a:latin typeface="Agrandir Bold"/>
                <a:ea typeface="Agrandir Bold"/>
                <a:cs typeface="Agrandir Bold"/>
                <a:sym typeface="Agrandir Bold"/>
              </a:rPr>
              <a:t> Market Gap</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Large brands (IKEA, Godrej) offer modular furniture but not compact, portable.</a:t>
            </a:r>
          </a:p>
          <a:p>
            <a:pPr algn="l" marL="590081" indent="-295040" lvl="1">
              <a:lnSpc>
                <a:spcPts val="3826"/>
              </a:lnSpc>
              <a:buFont typeface="Arial"/>
              <a:buChar char="•"/>
            </a:pPr>
            <a:r>
              <a:rPr lang="en-US" sz="2733">
                <a:solidFill>
                  <a:srgbClr val="171717"/>
                </a:solidFill>
                <a:latin typeface="Agrandir"/>
                <a:ea typeface="Agrandir"/>
                <a:cs typeface="Agrandir"/>
                <a:sym typeface="Agrandir"/>
              </a:rPr>
              <a:t>SpaceEase fills this eco-functional niche in the market.</a:t>
            </a:r>
          </a:p>
          <a:p>
            <a:pPr algn="l">
              <a:lnSpc>
                <a:spcPts val="382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0">
            <a:off x="15421417" y="6886131"/>
            <a:ext cx="5045986" cy="3761553"/>
          </a:xfrm>
          <a:custGeom>
            <a:avLst/>
            <a:gdLst/>
            <a:ahLst/>
            <a:cxnLst/>
            <a:rect r="r" b="b" t="t" l="l"/>
            <a:pathLst>
              <a:path h="3761553" w="5045986">
                <a:moveTo>
                  <a:pt x="0" y="0"/>
                </a:moveTo>
                <a:lnTo>
                  <a:pt x="5045985" y="0"/>
                </a:lnTo>
                <a:lnTo>
                  <a:pt x="5045985" y="3761553"/>
                </a:lnTo>
                <a:lnTo>
                  <a:pt x="0" y="3761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23060"/>
            <a:ext cx="10407105" cy="1113789"/>
          </a:xfrm>
          <a:prstGeom prst="rect">
            <a:avLst/>
          </a:prstGeom>
        </p:spPr>
        <p:txBody>
          <a:bodyPr anchor="t" rtlCol="false" tIns="0" lIns="0" bIns="0" rIns="0">
            <a:spAutoFit/>
          </a:bodyPr>
          <a:lstStyle/>
          <a:p>
            <a:pPr algn="l" marL="0" indent="0" lvl="0">
              <a:lnSpc>
                <a:spcPts val="8329"/>
              </a:lnSpc>
            </a:pPr>
            <a:r>
              <a:rPr lang="en-US" b="true" sz="8499" spc="-552">
                <a:solidFill>
                  <a:srgbClr val="171717"/>
                </a:solidFill>
                <a:latin typeface="Source Serif Pro Bold"/>
                <a:ea typeface="Source Serif Pro Bold"/>
                <a:cs typeface="Source Serif Pro Bold"/>
                <a:sym typeface="Source Serif Pro Bold"/>
              </a:rPr>
              <a:t>Model type</a:t>
            </a:r>
          </a:p>
        </p:txBody>
      </p:sp>
      <p:sp>
        <p:nvSpPr>
          <p:cNvPr name="Freeform 4" id="4"/>
          <p:cNvSpPr/>
          <p:nvPr/>
        </p:nvSpPr>
        <p:spPr>
          <a:xfrm flipH="false" flipV="false" rot="4382172">
            <a:off x="17139016" y="5048487"/>
            <a:ext cx="1854551" cy="1861320"/>
          </a:xfrm>
          <a:custGeom>
            <a:avLst/>
            <a:gdLst/>
            <a:ahLst/>
            <a:cxnLst/>
            <a:rect r="r" b="b" t="t" l="l"/>
            <a:pathLst>
              <a:path h="1861320" w="1854551">
                <a:moveTo>
                  <a:pt x="0" y="0"/>
                </a:moveTo>
                <a:lnTo>
                  <a:pt x="1854552" y="0"/>
                </a:lnTo>
                <a:lnTo>
                  <a:pt x="1854552" y="1861320"/>
                </a:lnTo>
                <a:lnTo>
                  <a:pt x="0" y="1861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5" id="5"/>
          <p:cNvGraphicFramePr>
            <a:graphicFrameLocks noGrp="true"/>
          </p:cNvGraphicFramePr>
          <p:nvPr/>
        </p:nvGraphicFramePr>
        <p:xfrm>
          <a:off x="1028700" y="1936898"/>
          <a:ext cx="14392717" cy="8122598"/>
        </p:xfrm>
        <a:graphic>
          <a:graphicData uri="http://schemas.openxmlformats.org/drawingml/2006/table">
            <a:tbl>
              <a:tblPr/>
              <a:tblGrid>
                <a:gridCol w="6096892"/>
                <a:gridCol w="8295825"/>
              </a:tblGrid>
              <a:tr h="1040881">
                <a:tc>
                  <a:txBody>
                    <a:bodyPr anchor="t" rtlCol="false"/>
                    <a:lstStyle/>
                    <a:p>
                      <a:pPr algn="ctr">
                        <a:lnSpc>
                          <a:spcPts val="4339"/>
                        </a:lnSpc>
                        <a:defRPr/>
                      </a:pPr>
                      <a:r>
                        <a:rPr lang="en-US" sz="3099" b="true">
                          <a:solidFill>
                            <a:srgbClr val="000000"/>
                          </a:solidFill>
                          <a:latin typeface="Source Serif Pro Bold"/>
                          <a:ea typeface="Source Serif Pro Bold"/>
                          <a:cs typeface="Source Serif Pro Bold"/>
                          <a:sym typeface="Source Serif Pro Bold"/>
                        </a:rPr>
                        <a:t>Element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339"/>
                        </a:lnSpc>
                        <a:defRPr/>
                      </a:pPr>
                      <a:r>
                        <a:rPr lang="en-US" sz="3099" b="true">
                          <a:solidFill>
                            <a:srgbClr val="000000"/>
                          </a:solidFill>
                          <a:latin typeface="Source Serif Pro Bold"/>
                          <a:ea typeface="Source Serif Pro Bold"/>
                          <a:cs typeface="Source Serif Pro Bold"/>
                          <a:sym typeface="Source Serif Pro Bold"/>
                        </a:rPr>
                        <a:t>SpaceEase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0430">
                <a:tc>
                  <a:txBody>
                    <a:bodyPr anchor="t" rtlCol="false"/>
                    <a:lstStyle/>
                    <a:p>
                      <a:pPr algn="l">
                        <a:lnSpc>
                          <a:spcPts val="3499"/>
                        </a:lnSpc>
                        <a:defRPr/>
                      </a:pPr>
                      <a:r>
                        <a:rPr lang="en-US" sz="2499" b="true">
                          <a:solidFill>
                            <a:srgbClr val="000000"/>
                          </a:solidFill>
                          <a:latin typeface="Source Serif Pro Bold"/>
                          <a:ea typeface="Source Serif Pro Bold"/>
                          <a:cs typeface="Source Serif Pro Bold"/>
                          <a:sym typeface="Source Serif Pro Bold"/>
                        </a:rPr>
                        <a:t>Business 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Private Limited Company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0645">
                <a:tc>
                  <a:txBody>
                    <a:bodyPr anchor="t" rtlCol="false"/>
                    <a:lstStyle/>
                    <a:p>
                      <a:pPr algn="l">
                        <a:lnSpc>
                          <a:spcPts val="3499"/>
                        </a:lnSpc>
                        <a:defRPr/>
                      </a:pPr>
                      <a:r>
                        <a:rPr lang="en-US" sz="2499" b="true">
                          <a:solidFill>
                            <a:srgbClr val="000000"/>
                          </a:solidFill>
                          <a:latin typeface="Source Serif Pro Bold"/>
                          <a:ea typeface="Source Serif Pro Bold"/>
                          <a:cs typeface="Source Serif Pro Bold"/>
                          <a:sym typeface="Source Serif Pro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Direct-to-Consumer (D2C) via e-commerce + selective retail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0645">
                <a:tc>
                  <a:txBody>
                    <a:bodyPr anchor="t" rtlCol="false"/>
                    <a:lstStyle/>
                    <a:p>
                      <a:pPr algn="l">
                        <a:lnSpc>
                          <a:spcPts val="3499"/>
                        </a:lnSpc>
                        <a:defRPr/>
                      </a:pPr>
                      <a:r>
                        <a:rPr lang="en-US" sz="2499" b="true">
                          <a:solidFill>
                            <a:srgbClr val="000000"/>
                          </a:solidFill>
                          <a:latin typeface="Source Serif Pro Bold"/>
                          <a:ea typeface="Source Serif Pro Bold"/>
                          <a:cs typeface="Source Serif Pro Bold"/>
                          <a:sym typeface="Source Serif Pro Bold"/>
                        </a:rPr>
                        <a:t>Revenue Streams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Product sales (foldable furniture, organisers), custom designs, B2B bulk orders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0430">
                <a:tc>
                  <a:txBody>
                    <a:bodyPr anchor="t" rtlCol="false"/>
                    <a:lstStyle/>
                    <a:p>
                      <a:pPr algn="l">
                        <a:lnSpc>
                          <a:spcPts val="3499"/>
                        </a:lnSpc>
                        <a:defRPr/>
                      </a:pPr>
                      <a:r>
                        <a:rPr lang="en-US" sz="2499" b="true">
                          <a:solidFill>
                            <a:srgbClr val="000000"/>
                          </a:solidFill>
                          <a:latin typeface="Source Serif Pro Bold"/>
                          <a:ea typeface="Source Serif Pro Bold"/>
                          <a:cs typeface="Source Serif Pro Bold"/>
                          <a:sym typeface="Source Serif Pro Bold"/>
                        </a:rPr>
                        <a:t>Pricing Strategy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₹2,000–₹15,000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0645">
                <a:tc>
                  <a:txBody>
                    <a:bodyPr anchor="t" rtlCol="false"/>
                    <a:lstStyle/>
                    <a:p>
                      <a:pPr algn="l">
                        <a:lnSpc>
                          <a:spcPts val="3499"/>
                        </a:lnSpc>
                        <a:defRPr/>
                      </a:pPr>
                      <a:r>
                        <a:rPr lang="en-US" sz="2499" b="true">
                          <a:solidFill>
                            <a:srgbClr val="000000"/>
                          </a:solidFill>
                          <a:latin typeface="Source Serif Pro Bold"/>
                          <a:ea typeface="Source Serif Pro Bold"/>
                          <a:cs typeface="Source Serif Pro Bold"/>
                          <a:sym typeface="Source Serif Pro Bold"/>
                        </a:rPr>
                        <a:t>Production 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Own small-scale manufacturing + local supplier network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8924">
                <a:tc>
                  <a:txBody>
                    <a:bodyPr anchor="t" rtlCol="false"/>
                    <a:lstStyle/>
                    <a:p>
                      <a:pPr algn="l">
                        <a:lnSpc>
                          <a:spcPts val="3499"/>
                        </a:lnSpc>
                        <a:defRPr/>
                      </a:pPr>
                      <a:r>
                        <a:rPr lang="en-US" sz="2499" b="true">
                          <a:solidFill>
                            <a:srgbClr val="000000"/>
                          </a:solidFill>
                          <a:latin typeface="Source Serif Pro Bold"/>
                          <a:ea typeface="Source Serif Pro Bold"/>
                          <a:cs typeface="Source Serif Pro Bold"/>
                          <a:sym typeface="Source Serif Pro Bold"/>
                        </a:rPr>
                        <a:t>Distribution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Website, Amazon, Flipkart, furniture marketplaces, and small urban experience stores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6" id="6"/>
          <p:cNvSpPr/>
          <p:nvPr/>
        </p:nvSpPr>
        <p:spPr>
          <a:xfrm flipH="false" flipV="false" rot="4382172">
            <a:off x="15733708" y="5801971"/>
            <a:ext cx="1185671" cy="1189998"/>
          </a:xfrm>
          <a:custGeom>
            <a:avLst/>
            <a:gdLst/>
            <a:ahLst/>
            <a:cxnLst/>
            <a:rect r="r" b="b" t="t" l="l"/>
            <a:pathLst>
              <a:path h="1189998" w="1185671">
                <a:moveTo>
                  <a:pt x="0" y="0"/>
                </a:moveTo>
                <a:lnTo>
                  <a:pt x="1185671" y="0"/>
                </a:lnTo>
                <a:lnTo>
                  <a:pt x="1185671" y="1189998"/>
                </a:lnTo>
                <a:lnTo>
                  <a:pt x="0" y="11899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TextBox 2" id="2"/>
          <p:cNvSpPr txBox="true"/>
          <p:nvPr/>
        </p:nvSpPr>
        <p:spPr>
          <a:xfrm rot="0">
            <a:off x="731600" y="657479"/>
            <a:ext cx="18917728" cy="885317"/>
          </a:xfrm>
          <a:prstGeom prst="rect">
            <a:avLst/>
          </a:prstGeom>
        </p:spPr>
        <p:txBody>
          <a:bodyPr anchor="t" rtlCol="false" tIns="0" lIns="0" bIns="0" rIns="0">
            <a:spAutoFit/>
          </a:bodyPr>
          <a:lstStyle/>
          <a:p>
            <a:pPr algn="l" marL="0" indent="0" lvl="0">
              <a:lnSpc>
                <a:spcPts val="6663"/>
              </a:lnSpc>
            </a:pPr>
            <a:r>
              <a:rPr lang="en-US" b="true" sz="6799" spc="-441">
                <a:solidFill>
                  <a:srgbClr val="171717"/>
                </a:solidFill>
                <a:latin typeface="Source Serif Pro Bold"/>
                <a:ea typeface="Source Serif Pro Bold"/>
                <a:cs typeface="Source Serif Pro Bold"/>
                <a:sym typeface="Source Serif Pro Bold"/>
              </a:rPr>
              <a:t>Segmentation, Targeting &amp; Positioning</a:t>
            </a:r>
          </a:p>
        </p:txBody>
      </p:sp>
      <p:sp>
        <p:nvSpPr>
          <p:cNvPr name="TextBox 3" id="3"/>
          <p:cNvSpPr txBox="true"/>
          <p:nvPr/>
        </p:nvSpPr>
        <p:spPr>
          <a:xfrm rot="0">
            <a:off x="912279" y="1686416"/>
            <a:ext cx="9278186" cy="8321353"/>
          </a:xfrm>
          <a:prstGeom prst="rect">
            <a:avLst/>
          </a:prstGeom>
        </p:spPr>
        <p:txBody>
          <a:bodyPr anchor="t" rtlCol="false" tIns="0" lIns="0" bIns="0" rIns="0">
            <a:spAutoFit/>
          </a:bodyPr>
          <a:lstStyle/>
          <a:p>
            <a:pPr algn="just">
              <a:lnSpc>
                <a:spcPts val="3867"/>
              </a:lnSpc>
            </a:pPr>
            <a:r>
              <a:rPr lang="en-US" sz="2762">
                <a:solidFill>
                  <a:srgbClr val="171717"/>
                </a:solidFill>
                <a:latin typeface="Agrandir"/>
                <a:ea typeface="Agrandir"/>
                <a:cs typeface="Agrandir"/>
                <a:sym typeface="Agrandir"/>
              </a:rPr>
              <a:t>🏙️ Target Market</a:t>
            </a:r>
          </a:p>
          <a:p>
            <a:pPr algn="just" marL="596459" indent="-298229" lvl="1">
              <a:lnSpc>
                <a:spcPts val="3867"/>
              </a:lnSpc>
              <a:buFont typeface="Arial"/>
              <a:buChar char="•"/>
            </a:pPr>
            <a:r>
              <a:rPr lang="en-US" sz="2762">
                <a:solidFill>
                  <a:srgbClr val="171717"/>
                </a:solidFill>
                <a:latin typeface="Agrandir"/>
                <a:ea typeface="Agrandir"/>
                <a:cs typeface="Agrandir"/>
                <a:sym typeface="Agrandir"/>
              </a:rPr>
              <a:t>Primary: Urban professionals, students, and renters aged 20–40.</a:t>
            </a:r>
          </a:p>
          <a:p>
            <a:pPr algn="just" marL="596459" indent="-298229" lvl="1">
              <a:lnSpc>
                <a:spcPts val="3867"/>
              </a:lnSpc>
              <a:buFont typeface="Arial"/>
              <a:buChar char="•"/>
            </a:pPr>
            <a:r>
              <a:rPr lang="en-US" sz="2762">
                <a:solidFill>
                  <a:srgbClr val="171717"/>
                </a:solidFill>
                <a:latin typeface="Agrandir"/>
                <a:ea typeface="Agrandir"/>
                <a:cs typeface="Agrandir"/>
                <a:sym typeface="Agrandir"/>
              </a:rPr>
              <a:t>Secondary: Small offices, hostels, and co-living spaces.</a:t>
            </a:r>
          </a:p>
          <a:p>
            <a:pPr algn="just" marL="596459" indent="-298229" lvl="1">
              <a:lnSpc>
                <a:spcPts val="3867"/>
              </a:lnSpc>
              <a:buFont typeface="Arial"/>
              <a:buChar char="•"/>
            </a:pPr>
            <a:r>
              <a:rPr lang="en-US" sz="2762">
                <a:solidFill>
                  <a:srgbClr val="171717"/>
                </a:solidFill>
                <a:latin typeface="Agrandir"/>
                <a:ea typeface="Agrandir"/>
                <a:cs typeface="Agrandir"/>
                <a:sym typeface="Agrandir"/>
              </a:rPr>
              <a:t>Geography: Tier-1 and Tier-2 cities — Delhi, Mumbai, Pune, Bengaluru, Jaipur</a:t>
            </a:r>
          </a:p>
          <a:p>
            <a:pPr algn="just">
              <a:lnSpc>
                <a:spcPts val="3867"/>
              </a:lnSpc>
            </a:pPr>
          </a:p>
          <a:p>
            <a:pPr algn="just">
              <a:lnSpc>
                <a:spcPts val="3867"/>
              </a:lnSpc>
            </a:pPr>
            <a:r>
              <a:rPr lang="en-US" sz="2762">
                <a:solidFill>
                  <a:srgbClr val="171717"/>
                </a:solidFill>
                <a:latin typeface="Agrandir"/>
                <a:ea typeface="Agrandir"/>
                <a:cs typeface="Agrandir"/>
                <a:sym typeface="Agrandir"/>
              </a:rPr>
              <a:t>📊 Demand Analysis</a:t>
            </a:r>
          </a:p>
          <a:p>
            <a:pPr algn="just" marL="596459" indent="-298229" lvl="1">
              <a:lnSpc>
                <a:spcPts val="3867"/>
              </a:lnSpc>
              <a:buFont typeface="Arial"/>
              <a:buChar char="•"/>
            </a:pPr>
            <a:r>
              <a:rPr lang="en-US" sz="2762">
                <a:solidFill>
                  <a:srgbClr val="171717"/>
                </a:solidFill>
                <a:latin typeface="Agrandir"/>
                <a:ea typeface="Agrandir"/>
                <a:cs typeface="Agrandir"/>
                <a:sym typeface="Agrandir"/>
              </a:rPr>
              <a:t>Increasing work-from-home setups → higher need for foldable, space-efficient desks.</a:t>
            </a:r>
          </a:p>
          <a:p>
            <a:pPr algn="just" marL="596459" indent="-298229" lvl="1">
              <a:lnSpc>
                <a:spcPts val="3867"/>
              </a:lnSpc>
              <a:buFont typeface="Arial"/>
              <a:buChar char="•"/>
            </a:pPr>
            <a:r>
              <a:rPr lang="en-US" sz="2762">
                <a:solidFill>
                  <a:srgbClr val="171717"/>
                </a:solidFill>
                <a:latin typeface="Agrandir"/>
                <a:ea typeface="Agrandir"/>
                <a:cs typeface="Agrandir"/>
                <a:sym typeface="Agrandir"/>
              </a:rPr>
              <a:t>India’s home furniture market is growing at 11–13% CAGR (2024–2029), with modular furniture dominating.</a:t>
            </a:r>
          </a:p>
          <a:p>
            <a:pPr algn="just" marL="596459" indent="-298229" lvl="1">
              <a:lnSpc>
                <a:spcPts val="3867"/>
              </a:lnSpc>
              <a:buFont typeface="Arial"/>
              <a:buChar char="•"/>
            </a:pPr>
            <a:r>
              <a:rPr lang="en-US" sz="2762">
                <a:solidFill>
                  <a:srgbClr val="171717"/>
                </a:solidFill>
                <a:latin typeface="Agrandir"/>
                <a:ea typeface="Agrandir"/>
                <a:cs typeface="Agrandir"/>
                <a:sym typeface="Agrandir"/>
              </a:rPr>
              <a:t>Consumers are shifting toward eco-friendly and affordable design.</a:t>
            </a:r>
          </a:p>
          <a:p>
            <a:pPr algn="just">
              <a:lnSpc>
                <a:spcPts val="3867"/>
              </a:lnSpc>
              <a:spcBef>
                <a:spcPct val="0"/>
              </a:spcBef>
            </a:pPr>
          </a:p>
        </p:txBody>
      </p:sp>
      <p:sp>
        <p:nvSpPr>
          <p:cNvPr name="Freeform 4" id="4"/>
          <p:cNvSpPr/>
          <p:nvPr/>
        </p:nvSpPr>
        <p:spPr>
          <a:xfrm flipH="false" flipV="false" rot="0">
            <a:off x="12401748" y="3701738"/>
            <a:ext cx="6903734" cy="5028247"/>
          </a:xfrm>
          <a:custGeom>
            <a:avLst/>
            <a:gdLst/>
            <a:ahLst/>
            <a:cxnLst/>
            <a:rect r="r" b="b" t="t" l="l"/>
            <a:pathLst>
              <a:path h="5028247" w="6903734">
                <a:moveTo>
                  <a:pt x="0" y="0"/>
                </a:moveTo>
                <a:lnTo>
                  <a:pt x="6903734" y="0"/>
                </a:lnTo>
                <a:lnTo>
                  <a:pt x="6903734" y="5028247"/>
                </a:lnTo>
                <a:lnTo>
                  <a:pt x="0" y="5028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F1EEEA"/>
        </a:solidFill>
      </p:bgPr>
    </p:bg>
    <p:spTree>
      <p:nvGrpSpPr>
        <p:cNvPr id="1" name=""/>
        <p:cNvGrpSpPr/>
        <p:nvPr/>
      </p:nvGrpSpPr>
      <p:grpSpPr>
        <a:xfrm>
          <a:off x="0" y="0"/>
          <a:ext cx="0" cy="0"/>
          <a:chOff x="0" y="0"/>
          <a:chExt cx="0" cy="0"/>
        </a:xfrm>
      </p:grpSpPr>
      <p:sp>
        <p:nvSpPr>
          <p:cNvPr name="TextBox 2" id="2"/>
          <p:cNvSpPr txBox="true"/>
          <p:nvPr/>
        </p:nvSpPr>
        <p:spPr>
          <a:xfrm rot="0">
            <a:off x="3674210" y="249942"/>
            <a:ext cx="11315351" cy="1000126"/>
          </a:xfrm>
          <a:prstGeom prst="rect">
            <a:avLst/>
          </a:prstGeom>
        </p:spPr>
        <p:txBody>
          <a:bodyPr anchor="t" rtlCol="false" tIns="0" lIns="0" bIns="0" rIns="0">
            <a:spAutoFit/>
          </a:bodyPr>
          <a:lstStyle/>
          <a:p>
            <a:pPr algn="ctr">
              <a:lnSpc>
                <a:spcPts val="7200"/>
              </a:lnSpc>
            </a:pPr>
            <a:r>
              <a:rPr lang="en-US" sz="8000" b="true">
                <a:solidFill>
                  <a:srgbClr val="0D110B"/>
                </a:solidFill>
                <a:latin typeface="Source Serif Pro Bold"/>
                <a:ea typeface="Source Serif Pro Bold"/>
                <a:cs typeface="Source Serif Pro Bold"/>
                <a:sym typeface="Source Serif Pro Bold"/>
              </a:rPr>
              <a:t>Product Line</a:t>
            </a:r>
          </a:p>
        </p:txBody>
      </p:sp>
      <p:grpSp>
        <p:nvGrpSpPr>
          <p:cNvPr name="Group 3" id="3"/>
          <p:cNvGrpSpPr/>
          <p:nvPr/>
        </p:nvGrpSpPr>
        <p:grpSpPr>
          <a:xfrm rot="0">
            <a:off x="477954" y="6356275"/>
            <a:ext cx="7947924" cy="832326"/>
            <a:chOff x="0" y="0"/>
            <a:chExt cx="2093280" cy="219213"/>
          </a:xfrm>
        </p:grpSpPr>
        <p:sp>
          <p:nvSpPr>
            <p:cNvPr name="Freeform 4" id="4"/>
            <p:cNvSpPr/>
            <p:nvPr/>
          </p:nvSpPr>
          <p:spPr>
            <a:xfrm flipH="false" flipV="false" rot="0">
              <a:off x="0" y="0"/>
              <a:ext cx="2093280" cy="219213"/>
            </a:xfrm>
            <a:custGeom>
              <a:avLst/>
              <a:gdLst/>
              <a:ahLst/>
              <a:cxnLst/>
              <a:rect r="r" b="b" t="t" l="l"/>
              <a:pathLst>
                <a:path h="219213" w="2093280">
                  <a:moveTo>
                    <a:pt x="79875" y="0"/>
                  </a:moveTo>
                  <a:lnTo>
                    <a:pt x="2013406" y="0"/>
                  </a:lnTo>
                  <a:cubicBezTo>
                    <a:pt x="2057519" y="0"/>
                    <a:pt x="2093280" y="35761"/>
                    <a:pt x="2093280" y="79875"/>
                  </a:cubicBezTo>
                  <a:lnTo>
                    <a:pt x="2093280" y="139339"/>
                  </a:lnTo>
                  <a:cubicBezTo>
                    <a:pt x="2093280" y="160523"/>
                    <a:pt x="2084865" y="180839"/>
                    <a:pt x="2069886" y="195819"/>
                  </a:cubicBezTo>
                  <a:cubicBezTo>
                    <a:pt x="2054906" y="210798"/>
                    <a:pt x="2034590" y="219213"/>
                    <a:pt x="2013406" y="219213"/>
                  </a:cubicBezTo>
                  <a:lnTo>
                    <a:pt x="79875" y="219213"/>
                  </a:lnTo>
                  <a:cubicBezTo>
                    <a:pt x="35761" y="219213"/>
                    <a:pt x="0" y="183452"/>
                    <a:pt x="0" y="139339"/>
                  </a:cubicBezTo>
                  <a:lnTo>
                    <a:pt x="0" y="79875"/>
                  </a:lnTo>
                  <a:cubicBezTo>
                    <a:pt x="0" y="58691"/>
                    <a:pt x="8415" y="38374"/>
                    <a:pt x="23395" y="23395"/>
                  </a:cubicBezTo>
                  <a:cubicBezTo>
                    <a:pt x="38374" y="8415"/>
                    <a:pt x="58691" y="0"/>
                    <a:pt x="79875" y="0"/>
                  </a:cubicBezTo>
                  <a:close/>
                </a:path>
              </a:pathLst>
            </a:custGeom>
            <a:solidFill>
              <a:srgbClr val="00691D"/>
            </a:solidFill>
            <a:ln w="28575" cap="rnd">
              <a:solidFill>
                <a:srgbClr val="000000"/>
              </a:solidFill>
              <a:prstDash val="solid"/>
              <a:round/>
            </a:ln>
          </p:spPr>
        </p:sp>
        <p:sp>
          <p:nvSpPr>
            <p:cNvPr name="TextBox 5" id="5"/>
            <p:cNvSpPr txBox="true"/>
            <p:nvPr/>
          </p:nvSpPr>
          <p:spPr>
            <a:xfrm>
              <a:off x="0" y="-57150"/>
              <a:ext cx="2093280" cy="276363"/>
            </a:xfrm>
            <a:prstGeom prst="rect">
              <a:avLst/>
            </a:prstGeom>
          </p:spPr>
          <p:txBody>
            <a:bodyPr anchor="ctr" rtlCol="false" tIns="50800" lIns="50800" bIns="50800" rIns="50800"/>
            <a:lstStyle/>
            <a:p>
              <a:pPr algn="ctr">
                <a:lnSpc>
                  <a:spcPts val="4288"/>
                </a:lnSpc>
              </a:pPr>
              <a:r>
                <a:rPr lang="en-US" b="true" sz="3063">
                  <a:solidFill>
                    <a:srgbClr val="FFFFFF"/>
                  </a:solidFill>
                  <a:latin typeface="Bricolage Grotesque Bold"/>
                  <a:ea typeface="Bricolage Grotesque Bold"/>
                  <a:cs typeface="Bricolage Grotesque Bold"/>
                  <a:sym typeface="Bricolage Grotesque Bold"/>
                </a:rPr>
                <a:t>2. Wall-Mounted Shelving Units</a:t>
              </a:r>
            </a:p>
          </p:txBody>
        </p:sp>
      </p:grpSp>
      <p:grpSp>
        <p:nvGrpSpPr>
          <p:cNvPr name="Group 6" id="6"/>
          <p:cNvGrpSpPr/>
          <p:nvPr/>
        </p:nvGrpSpPr>
        <p:grpSpPr>
          <a:xfrm rot="0">
            <a:off x="477954" y="1240543"/>
            <a:ext cx="7656638" cy="976458"/>
            <a:chOff x="0" y="0"/>
            <a:chExt cx="2016563" cy="257174"/>
          </a:xfrm>
        </p:grpSpPr>
        <p:sp>
          <p:nvSpPr>
            <p:cNvPr name="Freeform 7" id="7"/>
            <p:cNvSpPr/>
            <p:nvPr/>
          </p:nvSpPr>
          <p:spPr>
            <a:xfrm flipH="false" flipV="false" rot="0">
              <a:off x="0" y="0"/>
              <a:ext cx="2016563" cy="257174"/>
            </a:xfrm>
            <a:custGeom>
              <a:avLst/>
              <a:gdLst/>
              <a:ahLst/>
              <a:cxnLst/>
              <a:rect r="r" b="b" t="t" l="l"/>
              <a:pathLst>
                <a:path h="257174" w="2016563">
                  <a:moveTo>
                    <a:pt x="82913" y="0"/>
                  </a:moveTo>
                  <a:lnTo>
                    <a:pt x="1933650" y="0"/>
                  </a:lnTo>
                  <a:cubicBezTo>
                    <a:pt x="1979441" y="0"/>
                    <a:pt x="2016563" y="37122"/>
                    <a:pt x="2016563" y="82913"/>
                  </a:cubicBezTo>
                  <a:lnTo>
                    <a:pt x="2016563" y="174261"/>
                  </a:lnTo>
                  <a:cubicBezTo>
                    <a:pt x="2016563" y="196251"/>
                    <a:pt x="2007827" y="217340"/>
                    <a:pt x="1992278" y="232889"/>
                  </a:cubicBezTo>
                  <a:cubicBezTo>
                    <a:pt x="1976729" y="248439"/>
                    <a:pt x="1955640" y="257174"/>
                    <a:pt x="1933650" y="257174"/>
                  </a:cubicBezTo>
                  <a:lnTo>
                    <a:pt x="82913" y="257174"/>
                  </a:lnTo>
                  <a:cubicBezTo>
                    <a:pt x="60923" y="257174"/>
                    <a:pt x="39834" y="248439"/>
                    <a:pt x="24285" y="232889"/>
                  </a:cubicBezTo>
                  <a:cubicBezTo>
                    <a:pt x="8735" y="217340"/>
                    <a:pt x="0" y="196251"/>
                    <a:pt x="0" y="174261"/>
                  </a:cubicBezTo>
                  <a:lnTo>
                    <a:pt x="0" y="82913"/>
                  </a:lnTo>
                  <a:cubicBezTo>
                    <a:pt x="0" y="60923"/>
                    <a:pt x="8735" y="39834"/>
                    <a:pt x="24285" y="24285"/>
                  </a:cubicBezTo>
                  <a:cubicBezTo>
                    <a:pt x="39834" y="8735"/>
                    <a:pt x="60923" y="0"/>
                    <a:pt x="82913" y="0"/>
                  </a:cubicBezTo>
                  <a:close/>
                </a:path>
              </a:pathLst>
            </a:custGeom>
            <a:solidFill>
              <a:srgbClr val="00691D"/>
            </a:solidFill>
            <a:ln w="28575" cap="rnd">
              <a:solidFill>
                <a:srgbClr val="000000"/>
              </a:solidFill>
              <a:prstDash val="solid"/>
              <a:round/>
            </a:ln>
          </p:spPr>
        </p:sp>
        <p:sp>
          <p:nvSpPr>
            <p:cNvPr name="TextBox 8" id="8"/>
            <p:cNvSpPr txBox="true"/>
            <p:nvPr/>
          </p:nvSpPr>
          <p:spPr>
            <a:xfrm>
              <a:off x="0" y="-57150"/>
              <a:ext cx="2016563" cy="314324"/>
            </a:xfrm>
            <a:prstGeom prst="rect">
              <a:avLst/>
            </a:prstGeom>
          </p:spPr>
          <p:txBody>
            <a:bodyPr anchor="ctr" rtlCol="false" tIns="50800" lIns="50800" bIns="50800" rIns="50800"/>
            <a:lstStyle/>
            <a:p>
              <a:pPr algn="ctr">
                <a:lnSpc>
                  <a:spcPts val="3448"/>
                </a:lnSpc>
              </a:pPr>
            </a:p>
          </p:txBody>
        </p:sp>
      </p:grpSp>
      <p:sp>
        <p:nvSpPr>
          <p:cNvPr name="TextBox 9" id="9"/>
          <p:cNvSpPr txBox="true"/>
          <p:nvPr/>
        </p:nvSpPr>
        <p:spPr>
          <a:xfrm rot="0">
            <a:off x="2064876" y="1447784"/>
            <a:ext cx="3597737" cy="504826"/>
          </a:xfrm>
          <a:prstGeom prst="rect">
            <a:avLst/>
          </a:prstGeom>
        </p:spPr>
        <p:txBody>
          <a:bodyPr anchor="t" rtlCol="false" tIns="0" lIns="0" bIns="0" rIns="0">
            <a:spAutoFit/>
          </a:bodyPr>
          <a:lstStyle/>
          <a:p>
            <a:pPr algn="l" marL="647694" indent="-323847" lvl="1">
              <a:lnSpc>
                <a:spcPts val="4199"/>
              </a:lnSpc>
              <a:spcBef>
                <a:spcPct val="0"/>
              </a:spcBef>
              <a:buAutoNum type="arabicPeriod" startAt="1"/>
            </a:pPr>
            <a:r>
              <a:rPr lang="en-US" b="true" sz="2999">
                <a:solidFill>
                  <a:srgbClr val="FFFFFF"/>
                </a:solidFill>
                <a:latin typeface="Bricolage Grotesque Bold"/>
                <a:ea typeface="Bricolage Grotesque Bold"/>
                <a:cs typeface="Bricolage Grotesque Bold"/>
                <a:sym typeface="Bricolage Grotesque Bold"/>
              </a:rPr>
              <a:t> Foldable Table</a:t>
            </a:r>
          </a:p>
        </p:txBody>
      </p:sp>
      <p:sp>
        <p:nvSpPr>
          <p:cNvPr name="TextBox 10" id="10"/>
          <p:cNvSpPr txBox="true"/>
          <p:nvPr/>
        </p:nvSpPr>
        <p:spPr>
          <a:xfrm rot="0">
            <a:off x="477954" y="2943857"/>
            <a:ext cx="7656638" cy="3117009"/>
          </a:xfrm>
          <a:prstGeom prst="rect">
            <a:avLst/>
          </a:prstGeom>
        </p:spPr>
        <p:txBody>
          <a:bodyPr anchor="t" rtlCol="false" tIns="0" lIns="0" bIns="0" rIns="0">
            <a:spAutoFit/>
          </a:bodyPr>
          <a:lstStyle/>
          <a:p>
            <a:pPr algn="l" marL="546902" indent="-273451" lvl="1">
              <a:lnSpc>
                <a:spcPts val="3546"/>
              </a:lnSpc>
              <a:buFont typeface="Arial"/>
              <a:buChar char="•"/>
            </a:pPr>
            <a:r>
              <a:rPr lang="en-US" sz="2533">
                <a:solidFill>
                  <a:srgbClr val="171717"/>
                </a:solidFill>
                <a:latin typeface="Source Serif Pro"/>
                <a:ea typeface="Source Serif Pro"/>
                <a:cs typeface="Source Serif Pro"/>
                <a:sym typeface="Source Serif Pro"/>
              </a:rPr>
              <a:t>Steel frame + prelaminated engineered wood top.</a:t>
            </a:r>
          </a:p>
          <a:p>
            <a:pPr algn="l" marL="546902" indent="-273451" lvl="1">
              <a:lnSpc>
                <a:spcPts val="3546"/>
              </a:lnSpc>
              <a:buFont typeface="Arial"/>
              <a:buChar char="•"/>
            </a:pPr>
            <a:r>
              <a:rPr lang="en-US" sz="2533">
                <a:solidFill>
                  <a:srgbClr val="171717"/>
                </a:solidFill>
                <a:latin typeface="Source Serif Pro"/>
                <a:ea typeface="Source Serif Pro"/>
                <a:cs typeface="Source Serif Pro"/>
                <a:sym typeface="Source Serif Pro"/>
              </a:rPr>
              <a:t>Folds compactly for easy storage; portable and pre-assembled.</a:t>
            </a:r>
          </a:p>
          <a:p>
            <a:pPr algn="l" marL="546902" indent="-273451" lvl="1">
              <a:lnSpc>
                <a:spcPts val="3546"/>
              </a:lnSpc>
              <a:buFont typeface="Arial"/>
              <a:buChar char="•"/>
            </a:pPr>
            <a:r>
              <a:rPr lang="en-US" sz="2533">
                <a:solidFill>
                  <a:srgbClr val="171717"/>
                </a:solidFill>
                <a:latin typeface="Source Serif Pro"/>
                <a:ea typeface="Source Serif Pro"/>
                <a:cs typeface="Source Serif Pro"/>
                <a:sym typeface="Source Serif Pro"/>
              </a:rPr>
              <a:t>Serves as study desk, office table, or dining table.</a:t>
            </a:r>
          </a:p>
          <a:p>
            <a:pPr algn="l" marL="546902" indent="-273451" lvl="1">
              <a:lnSpc>
                <a:spcPts val="3546"/>
              </a:lnSpc>
              <a:buFont typeface="Arial"/>
              <a:buChar char="•"/>
            </a:pPr>
            <a:r>
              <a:rPr lang="en-US" sz="2533">
                <a:solidFill>
                  <a:srgbClr val="171717"/>
                </a:solidFill>
                <a:latin typeface="Source Serif Pro"/>
                <a:ea typeface="Source Serif Pro"/>
                <a:cs typeface="Source Serif Pro"/>
                <a:sym typeface="Source Serif Pro"/>
              </a:rPr>
              <a:t>Load capacity: up to 70 kg.</a:t>
            </a:r>
          </a:p>
          <a:p>
            <a:pPr algn="l" marL="546902" indent="-273451" lvl="1">
              <a:lnSpc>
                <a:spcPts val="3546"/>
              </a:lnSpc>
              <a:buFont typeface="Arial"/>
              <a:buChar char="•"/>
            </a:pPr>
            <a:r>
              <a:rPr lang="en-US" sz="2533">
                <a:solidFill>
                  <a:srgbClr val="171717"/>
                </a:solidFill>
                <a:latin typeface="Source Serif Pro"/>
                <a:ea typeface="Source Serif Pro"/>
                <a:cs typeface="Source Serif Pro"/>
                <a:sym typeface="Source Serif Pro"/>
              </a:rPr>
              <a:t>Price Range: ₹4,500 – ₹7,000</a:t>
            </a:r>
          </a:p>
          <a:p>
            <a:pPr algn="l">
              <a:lnSpc>
                <a:spcPts val="3546"/>
              </a:lnSpc>
            </a:pPr>
          </a:p>
        </p:txBody>
      </p:sp>
      <p:sp>
        <p:nvSpPr>
          <p:cNvPr name="TextBox 11" id="11"/>
          <p:cNvSpPr txBox="true"/>
          <p:nvPr/>
        </p:nvSpPr>
        <p:spPr>
          <a:xfrm rot="0">
            <a:off x="477954" y="7859358"/>
            <a:ext cx="7787449" cy="1773222"/>
          </a:xfrm>
          <a:prstGeom prst="rect">
            <a:avLst/>
          </a:prstGeom>
        </p:spPr>
        <p:txBody>
          <a:bodyPr anchor="t" rtlCol="false" tIns="0" lIns="0" bIns="0" rIns="0">
            <a:spAutoFit/>
          </a:bodyPr>
          <a:lstStyle/>
          <a:p>
            <a:pPr algn="l" marL="553372" indent="-276686" lvl="1">
              <a:lnSpc>
                <a:spcPts val="3588"/>
              </a:lnSpc>
              <a:buFont typeface="Arial"/>
              <a:buChar char="•"/>
            </a:pPr>
            <a:r>
              <a:rPr lang="en-US" sz="2563">
                <a:solidFill>
                  <a:srgbClr val="000000"/>
                </a:solidFill>
                <a:latin typeface="Source Serif Pro"/>
                <a:ea typeface="Source Serif Pro"/>
                <a:cs typeface="Source Serif Pro"/>
                <a:sym typeface="Source Serif Pro"/>
              </a:rPr>
              <a:t>Modular units with concealed steel brackets.</a:t>
            </a:r>
          </a:p>
          <a:p>
            <a:pPr algn="l" marL="553372" indent="-276686" lvl="1">
              <a:lnSpc>
                <a:spcPts val="3588"/>
              </a:lnSpc>
              <a:buFont typeface="Arial"/>
              <a:buChar char="•"/>
            </a:pPr>
            <a:r>
              <a:rPr lang="en-US" sz="2563">
                <a:solidFill>
                  <a:srgbClr val="000000"/>
                </a:solidFill>
                <a:latin typeface="Source Serif Pro"/>
                <a:ea typeface="Source Serif Pro"/>
                <a:cs typeface="Source Serif Pro"/>
                <a:sym typeface="Source Serif Pro"/>
              </a:rPr>
              <a:t>Matte wood finishes with modern aesthetics.</a:t>
            </a:r>
          </a:p>
          <a:p>
            <a:pPr algn="l" marL="553372" indent="-276686" lvl="1">
              <a:lnSpc>
                <a:spcPts val="3588"/>
              </a:lnSpc>
              <a:buFont typeface="Arial"/>
              <a:buChar char="•"/>
            </a:pPr>
            <a:r>
              <a:rPr lang="en-US" sz="2563">
                <a:solidFill>
                  <a:srgbClr val="000000"/>
                </a:solidFill>
                <a:latin typeface="Source Serif Pro"/>
                <a:ea typeface="Source Serif Pro"/>
                <a:cs typeface="Source Serif Pro"/>
                <a:sym typeface="Source Serif Pro"/>
              </a:rPr>
              <a:t>Ideal for books, décor, or workspace organisation.</a:t>
            </a:r>
          </a:p>
          <a:p>
            <a:pPr algn="l" marL="553372" indent="-276686" lvl="1">
              <a:lnSpc>
                <a:spcPts val="3588"/>
              </a:lnSpc>
              <a:buFont typeface="Arial"/>
              <a:buChar char="•"/>
            </a:pPr>
            <a:r>
              <a:rPr lang="en-US" sz="2563">
                <a:solidFill>
                  <a:srgbClr val="000000"/>
                </a:solidFill>
                <a:latin typeface="Source Serif Pro"/>
                <a:ea typeface="Source Serif Pro"/>
                <a:cs typeface="Source Serif Pro"/>
                <a:sym typeface="Source Serif Pro"/>
              </a:rPr>
              <a:t>Price Range: ₹2,500 – ₹6,000.</a:t>
            </a:r>
          </a:p>
        </p:txBody>
      </p:sp>
      <p:grpSp>
        <p:nvGrpSpPr>
          <p:cNvPr name="Group 12" id="12"/>
          <p:cNvGrpSpPr/>
          <p:nvPr/>
        </p:nvGrpSpPr>
        <p:grpSpPr>
          <a:xfrm rot="0">
            <a:off x="246031" y="2461392"/>
            <a:ext cx="7947924" cy="3599474"/>
            <a:chOff x="0" y="0"/>
            <a:chExt cx="2093221" cy="948015"/>
          </a:xfrm>
        </p:grpSpPr>
        <p:sp>
          <p:nvSpPr>
            <p:cNvPr name="Freeform 13" id="13"/>
            <p:cNvSpPr/>
            <p:nvPr/>
          </p:nvSpPr>
          <p:spPr>
            <a:xfrm flipH="false" flipV="false" rot="0">
              <a:off x="0" y="0"/>
              <a:ext cx="2093221" cy="948015"/>
            </a:xfrm>
            <a:custGeom>
              <a:avLst/>
              <a:gdLst/>
              <a:ahLst/>
              <a:cxnLst/>
              <a:rect r="r" b="b" t="t" l="l"/>
              <a:pathLst>
                <a:path h="948015" w="2093221">
                  <a:moveTo>
                    <a:pt x="2093221" y="79875"/>
                  </a:moveTo>
                  <a:lnTo>
                    <a:pt x="2093221" y="868140"/>
                  </a:lnTo>
                  <a:cubicBezTo>
                    <a:pt x="2093221" y="889324"/>
                    <a:pt x="2084806" y="909641"/>
                    <a:pt x="2069826" y="924620"/>
                  </a:cubicBezTo>
                  <a:cubicBezTo>
                    <a:pt x="2054847" y="939600"/>
                    <a:pt x="2034530" y="948015"/>
                    <a:pt x="2013346" y="948015"/>
                  </a:cubicBezTo>
                  <a:lnTo>
                    <a:pt x="79875" y="948015"/>
                  </a:lnTo>
                  <a:cubicBezTo>
                    <a:pt x="35761" y="948015"/>
                    <a:pt x="0" y="912254"/>
                    <a:pt x="0" y="868140"/>
                  </a:cubicBezTo>
                  <a:lnTo>
                    <a:pt x="0" y="79875"/>
                  </a:lnTo>
                  <a:cubicBezTo>
                    <a:pt x="0" y="58691"/>
                    <a:pt x="8415" y="38374"/>
                    <a:pt x="23395" y="23395"/>
                  </a:cubicBezTo>
                  <a:cubicBezTo>
                    <a:pt x="38374" y="8415"/>
                    <a:pt x="58691" y="0"/>
                    <a:pt x="79875" y="0"/>
                  </a:cubicBezTo>
                  <a:lnTo>
                    <a:pt x="2013346" y="0"/>
                  </a:lnTo>
                  <a:cubicBezTo>
                    <a:pt x="2057460" y="0"/>
                    <a:pt x="2093221" y="35761"/>
                    <a:pt x="2093221" y="79875"/>
                  </a:cubicBezTo>
                  <a:close/>
                </a:path>
              </a:pathLst>
            </a:custGeom>
            <a:ln w="28575" cap="rnd">
              <a:solidFill>
                <a:srgbClr val="000000"/>
              </a:solidFill>
              <a:prstDash val="solid"/>
              <a:round/>
            </a:ln>
          </p:spPr>
        </p:sp>
        <p:sp>
          <p:nvSpPr>
            <p:cNvPr name="TextBox 14" id="14"/>
            <p:cNvSpPr txBox="true"/>
            <p:nvPr/>
          </p:nvSpPr>
          <p:spPr>
            <a:xfrm>
              <a:off x="0" y="-57150"/>
              <a:ext cx="2093221" cy="1005165"/>
            </a:xfrm>
            <a:prstGeom prst="rect">
              <a:avLst/>
            </a:prstGeom>
          </p:spPr>
          <p:txBody>
            <a:bodyPr anchor="ctr" rtlCol="false" tIns="50800" lIns="50800" bIns="50800" rIns="50800"/>
            <a:lstStyle/>
            <a:p>
              <a:pPr algn="ctr">
                <a:lnSpc>
                  <a:spcPts val="3588"/>
                </a:lnSpc>
              </a:pPr>
            </a:p>
          </p:txBody>
        </p:sp>
      </p:grpSp>
      <p:grpSp>
        <p:nvGrpSpPr>
          <p:cNvPr name="Group 15" id="15"/>
          <p:cNvGrpSpPr/>
          <p:nvPr/>
        </p:nvGrpSpPr>
        <p:grpSpPr>
          <a:xfrm rot="0">
            <a:off x="397716" y="7512157"/>
            <a:ext cx="7947924" cy="2534299"/>
            <a:chOff x="0" y="0"/>
            <a:chExt cx="2093221" cy="667473"/>
          </a:xfrm>
        </p:grpSpPr>
        <p:sp>
          <p:nvSpPr>
            <p:cNvPr name="Freeform 16" id="16"/>
            <p:cNvSpPr/>
            <p:nvPr/>
          </p:nvSpPr>
          <p:spPr>
            <a:xfrm flipH="false" flipV="false" rot="0">
              <a:off x="0" y="0"/>
              <a:ext cx="2093221" cy="667474"/>
            </a:xfrm>
            <a:custGeom>
              <a:avLst/>
              <a:gdLst/>
              <a:ahLst/>
              <a:cxnLst/>
              <a:rect r="r" b="b" t="t" l="l"/>
              <a:pathLst>
                <a:path h="667474" w="2093221">
                  <a:moveTo>
                    <a:pt x="2093221" y="79875"/>
                  </a:moveTo>
                  <a:lnTo>
                    <a:pt x="2093221" y="587599"/>
                  </a:lnTo>
                  <a:cubicBezTo>
                    <a:pt x="2093221" y="608783"/>
                    <a:pt x="2084806" y="629099"/>
                    <a:pt x="2069826" y="644079"/>
                  </a:cubicBezTo>
                  <a:cubicBezTo>
                    <a:pt x="2054847" y="659058"/>
                    <a:pt x="2034530" y="667474"/>
                    <a:pt x="2013346" y="667474"/>
                  </a:cubicBezTo>
                  <a:lnTo>
                    <a:pt x="79875" y="667474"/>
                  </a:lnTo>
                  <a:cubicBezTo>
                    <a:pt x="35761" y="667474"/>
                    <a:pt x="0" y="631712"/>
                    <a:pt x="0" y="587599"/>
                  </a:cubicBezTo>
                  <a:lnTo>
                    <a:pt x="0" y="79875"/>
                  </a:lnTo>
                  <a:cubicBezTo>
                    <a:pt x="0" y="58691"/>
                    <a:pt x="8415" y="38374"/>
                    <a:pt x="23395" y="23395"/>
                  </a:cubicBezTo>
                  <a:cubicBezTo>
                    <a:pt x="38374" y="8415"/>
                    <a:pt x="58691" y="0"/>
                    <a:pt x="79875" y="0"/>
                  </a:cubicBezTo>
                  <a:lnTo>
                    <a:pt x="2013346" y="0"/>
                  </a:lnTo>
                  <a:cubicBezTo>
                    <a:pt x="2057460" y="0"/>
                    <a:pt x="2093221" y="35761"/>
                    <a:pt x="2093221" y="79875"/>
                  </a:cubicBezTo>
                  <a:close/>
                </a:path>
              </a:pathLst>
            </a:custGeom>
            <a:ln w="28575" cap="rnd">
              <a:solidFill>
                <a:srgbClr val="000000"/>
              </a:solidFill>
              <a:prstDash val="solid"/>
              <a:round/>
            </a:ln>
          </p:spPr>
        </p:sp>
        <p:sp>
          <p:nvSpPr>
            <p:cNvPr name="TextBox 17" id="17"/>
            <p:cNvSpPr txBox="true"/>
            <p:nvPr/>
          </p:nvSpPr>
          <p:spPr>
            <a:xfrm>
              <a:off x="0" y="-57150"/>
              <a:ext cx="2093221" cy="724623"/>
            </a:xfrm>
            <a:prstGeom prst="rect">
              <a:avLst/>
            </a:prstGeom>
          </p:spPr>
          <p:txBody>
            <a:bodyPr anchor="ctr" rtlCol="false" tIns="50800" lIns="50800" bIns="50800" rIns="50800"/>
            <a:lstStyle/>
            <a:p>
              <a:pPr algn="ctr">
                <a:lnSpc>
                  <a:spcPts val="3588"/>
                </a:lnSpc>
              </a:pPr>
            </a:p>
          </p:txBody>
        </p:sp>
      </p:grpSp>
      <p:grpSp>
        <p:nvGrpSpPr>
          <p:cNvPr name="Group 18" id="18"/>
          <p:cNvGrpSpPr/>
          <p:nvPr/>
        </p:nvGrpSpPr>
        <p:grpSpPr>
          <a:xfrm rot="0">
            <a:off x="9602662" y="1240543"/>
            <a:ext cx="7656638" cy="976458"/>
            <a:chOff x="0" y="0"/>
            <a:chExt cx="2016563" cy="257174"/>
          </a:xfrm>
        </p:grpSpPr>
        <p:sp>
          <p:nvSpPr>
            <p:cNvPr name="Freeform 19" id="19"/>
            <p:cNvSpPr/>
            <p:nvPr/>
          </p:nvSpPr>
          <p:spPr>
            <a:xfrm flipH="false" flipV="false" rot="0">
              <a:off x="0" y="0"/>
              <a:ext cx="2016563" cy="257174"/>
            </a:xfrm>
            <a:custGeom>
              <a:avLst/>
              <a:gdLst/>
              <a:ahLst/>
              <a:cxnLst/>
              <a:rect r="r" b="b" t="t" l="l"/>
              <a:pathLst>
                <a:path h="257174" w="2016563">
                  <a:moveTo>
                    <a:pt x="82913" y="0"/>
                  </a:moveTo>
                  <a:lnTo>
                    <a:pt x="1933650" y="0"/>
                  </a:lnTo>
                  <a:cubicBezTo>
                    <a:pt x="1979441" y="0"/>
                    <a:pt x="2016563" y="37122"/>
                    <a:pt x="2016563" y="82913"/>
                  </a:cubicBezTo>
                  <a:lnTo>
                    <a:pt x="2016563" y="174261"/>
                  </a:lnTo>
                  <a:cubicBezTo>
                    <a:pt x="2016563" y="196251"/>
                    <a:pt x="2007827" y="217340"/>
                    <a:pt x="1992278" y="232889"/>
                  </a:cubicBezTo>
                  <a:cubicBezTo>
                    <a:pt x="1976729" y="248439"/>
                    <a:pt x="1955640" y="257174"/>
                    <a:pt x="1933650" y="257174"/>
                  </a:cubicBezTo>
                  <a:lnTo>
                    <a:pt x="82913" y="257174"/>
                  </a:lnTo>
                  <a:cubicBezTo>
                    <a:pt x="60923" y="257174"/>
                    <a:pt x="39834" y="248439"/>
                    <a:pt x="24285" y="232889"/>
                  </a:cubicBezTo>
                  <a:cubicBezTo>
                    <a:pt x="8735" y="217340"/>
                    <a:pt x="0" y="196251"/>
                    <a:pt x="0" y="174261"/>
                  </a:cubicBezTo>
                  <a:lnTo>
                    <a:pt x="0" y="82913"/>
                  </a:lnTo>
                  <a:cubicBezTo>
                    <a:pt x="0" y="60923"/>
                    <a:pt x="8735" y="39834"/>
                    <a:pt x="24285" y="24285"/>
                  </a:cubicBezTo>
                  <a:cubicBezTo>
                    <a:pt x="39834" y="8735"/>
                    <a:pt x="60923" y="0"/>
                    <a:pt x="82913" y="0"/>
                  </a:cubicBezTo>
                  <a:close/>
                </a:path>
              </a:pathLst>
            </a:custGeom>
            <a:solidFill>
              <a:srgbClr val="00691D"/>
            </a:solidFill>
            <a:ln w="28575" cap="rnd">
              <a:solidFill>
                <a:srgbClr val="000000"/>
              </a:solidFill>
              <a:prstDash val="solid"/>
              <a:round/>
            </a:ln>
          </p:spPr>
        </p:sp>
        <p:sp>
          <p:nvSpPr>
            <p:cNvPr name="TextBox 20" id="20"/>
            <p:cNvSpPr txBox="true"/>
            <p:nvPr/>
          </p:nvSpPr>
          <p:spPr>
            <a:xfrm>
              <a:off x="0" y="-57150"/>
              <a:ext cx="2016563" cy="314324"/>
            </a:xfrm>
            <a:prstGeom prst="rect">
              <a:avLst/>
            </a:prstGeom>
          </p:spPr>
          <p:txBody>
            <a:bodyPr anchor="ctr" rtlCol="false" tIns="50800" lIns="50800" bIns="50800" rIns="50800"/>
            <a:lstStyle/>
            <a:p>
              <a:pPr algn="ctr">
                <a:lnSpc>
                  <a:spcPts val="3448"/>
                </a:lnSpc>
              </a:pPr>
            </a:p>
          </p:txBody>
        </p:sp>
      </p:grpSp>
      <p:sp>
        <p:nvSpPr>
          <p:cNvPr name="TextBox 21" id="21"/>
          <p:cNvSpPr txBox="true"/>
          <p:nvPr/>
        </p:nvSpPr>
        <p:spPr>
          <a:xfrm rot="0">
            <a:off x="10629039" y="1447784"/>
            <a:ext cx="5603885" cy="504826"/>
          </a:xfrm>
          <a:prstGeom prst="rect">
            <a:avLst/>
          </a:prstGeom>
        </p:spPr>
        <p:txBody>
          <a:bodyPr anchor="t" rtlCol="false" tIns="0" lIns="0" bIns="0" rIns="0">
            <a:spAutoFit/>
          </a:bodyPr>
          <a:lstStyle/>
          <a:p>
            <a:pPr algn="l">
              <a:lnSpc>
                <a:spcPts val="4199"/>
              </a:lnSpc>
              <a:spcBef>
                <a:spcPct val="0"/>
              </a:spcBef>
            </a:pPr>
            <a:r>
              <a:rPr lang="en-US" b="true" sz="2999">
                <a:solidFill>
                  <a:srgbClr val="FFFFFF"/>
                </a:solidFill>
                <a:latin typeface="Bricolage Grotesque Bold"/>
                <a:ea typeface="Bricolage Grotesque Bold"/>
                <a:cs typeface="Bricolage Grotesque Bold"/>
                <a:sym typeface="Bricolage Grotesque Bold"/>
              </a:rPr>
              <a:t>3. Foldable Office Workstation</a:t>
            </a:r>
          </a:p>
        </p:txBody>
      </p:sp>
      <p:grpSp>
        <p:nvGrpSpPr>
          <p:cNvPr name="Group 22" id="22"/>
          <p:cNvGrpSpPr/>
          <p:nvPr/>
        </p:nvGrpSpPr>
        <p:grpSpPr>
          <a:xfrm rot="0">
            <a:off x="9602662" y="6356275"/>
            <a:ext cx="7947924" cy="832326"/>
            <a:chOff x="0" y="0"/>
            <a:chExt cx="2093280" cy="219213"/>
          </a:xfrm>
        </p:grpSpPr>
        <p:sp>
          <p:nvSpPr>
            <p:cNvPr name="Freeform 23" id="23"/>
            <p:cNvSpPr/>
            <p:nvPr/>
          </p:nvSpPr>
          <p:spPr>
            <a:xfrm flipH="false" flipV="false" rot="0">
              <a:off x="0" y="0"/>
              <a:ext cx="2093280" cy="219213"/>
            </a:xfrm>
            <a:custGeom>
              <a:avLst/>
              <a:gdLst/>
              <a:ahLst/>
              <a:cxnLst/>
              <a:rect r="r" b="b" t="t" l="l"/>
              <a:pathLst>
                <a:path h="219213" w="2093280">
                  <a:moveTo>
                    <a:pt x="79875" y="0"/>
                  </a:moveTo>
                  <a:lnTo>
                    <a:pt x="2013406" y="0"/>
                  </a:lnTo>
                  <a:cubicBezTo>
                    <a:pt x="2057519" y="0"/>
                    <a:pt x="2093280" y="35761"/>
                    <a:pt x="2093280" y="79875"/>
                  </a:cubicBezTo>
                  <a:lnTo>
                    <a:pt x="2093280" y="139339"/>
                  </a:lnTo>
                  <a:cubicBezTo>
                    <a:pt x="2093280" y="160523"/>
                    <a:pt x="2084865" y="180839"/>
                    <a:pt x="2069886" y="195819"/>
                  </a:cubicBezTo>
                  <a:cubicBezTo>
                    <a:pt x="2054906" y="210798"/>
                    <a:pt x="2034590" y="219213"/>
                    <a:pt x="2013406" y="219213"/>
                  </a:cubicBezTo>
                  <a:lnTo>
                    <a:pt x="79875" y="219213"/>
                  </a:lnTo>
                  <a:cubicBezTo>
                    <a:pt x="35761" y="219213"/>
                    <a:pt x="0" y="183452"/>
                    <a:pt x="0" y="139339"/>
                  </a:cubicBezTo>
                  <a:lnTo>
                    <a:pt x="0" y="79875"/>
                  </a:lnTo>
                  <a:cubicBezTo>
                    <a:pt x="0" y="58691"/>
                    <a:pt x="8415" y="38374"/>
                    <a:pt x="23395" y="23395"/>
                  </a:cubicBezTo>
                  <a:cubicBezTo>
                    <a:pt x="38374" y="8415"/>
                    <a:pt x="58691" y="0"/>
                    <a:pt x="79875" y="0"/>
                  </a:cubicBezTo>
                  <a:close/>
                </a:path>
              </a:pathLst>
            </a:custGeom>
            <a:solidFill>
              <a:srgbClr val="00691D"/>
            </a:solidFill>
            <a:ln w="28575" cap="rnd">
              <a:solidFill>
                <a:srgbClr val="000000"/>
              </a:solidFill>
              <a:prstDash val="solid"/>
              <a:round/>
            </a:ln>
          </p:spPr>
        </p:sp>
        <p:sp>
          <p:nvSpPr>
            <p:cNvPr name="TextBox 24" id="24"/>
            <p:cNvSpPr txBox="true"/>
            <p:nvPr/>
          </p:nvSpPr>
          <p:spPr>
            <a:xfrm>
              <a:off x="0" y="-57150"/>
              <a:ext cx="2093280" cy="276363"/>
            </a:xfrm>
            <a:prstGeom prst="rect">
              <a:avLst/>
            </a:prstGeom>
          </p:spPr>
          <p:txBody>
            <a:bodyPr anchor="ctr" rtlCol="false" tIns="50800" lIns="50800" bIns="50800" rIns="50800"/>
            <a:lstStyle/>
            <a:p>
              <a:pPr algn="ctr">
                <a:lnSpc>
                  <a:spcPts val="4288"/>
                </a:lnSpc>
              </a:pPr>
              <a:r>
                <a:rPr lang="en-US" b="true" sz="3063">
                  <a:solidFill>
                    <a:srgbClr val="FFFFFF"/>
                  </a:solidFill>
                  <a:latin typeface="Bricolage Grotesque Bold"/>
                  <a:ea typeface="Bricolage Grotesque Bold"/>
                  <a:cs typeface="Bricolage Grotesque Bold"/>
                  <a:sym typeface="Bricolage Grotesque Bold"/>
                </a:rPr>
                <a:t>4. Modular &amp; Shoe Organiser</a:t>
              </a:r>
            </a:p>
          </p:txBody>
        </p:sp>
      </p:grpSp>
      <p:grpSp>
        <p:nvGrpSpPr>
          <p:cNvPr name="Group 25" id="25"/>
          <p:cNvGrpSpPr/>
          <p:nvPr/>
        </p:nvGrpSpPr>
        <p:grpSpPr>
          <a:xfrm rot="0">
            <a:off x="9602662" y="2461392"/>
            <a:ext cx="7947924" cy="3599474"/>
            <a:chOff x="0" y="0"/>
            <a:chExt cx="2093221" cy="948015"/>
          </a:xfrm>
        </p:grpSpPr>
        <p:sp>
          <p:nvSpPr>
            <p:cNvPr name="Freeform 26" id="26"/>
            <p:cNvSpPr/>
            <p:nvPr/>
          </p:nvSpPr>
          <p:spPr>
            <a:xfrm flipH="false" flipV="false" rot="0">
              <a:off x="0" y="0"/>
              <a:ext cx="2093221" cy="948015"/>
            </a:xfrm>
            <a:custGeom>
              <a:avLst/>
              <a:gdLst/>
              <a:ahLst/>
              <a:cxnLst/>
              <a:rect r="r" b="b" t="t" l="l"/>
              <a:pathLst>
                <a:path h="948015" w="2093221">
                  <a:moveTo>
                    <a:pt x="2093221" y="79875"/>
                  </a:moveTo>
                  <a:lnTo>
                    <a:pt x="2093221" y="868140"/>
                  </a:lnTo>
                  <a:cubicBezTo>
                    <a:pt x="2093221" y="889324"/>
                    <a:pt x="2084806" y="909641"/>
                    <a:pt x="2069826" y="924620"/>
                  </a:cubicBezTo>
                  <a:cubicBezTo>
                    <a:pt x="2054847" y="939600"/>
                    <a:pt x="2034530" y="948015"/>
                    <a:pt x="2013346" y="948015"/>
                  </a:cubicBezTo>
                  <a:lnTo>
                    <a:pt x="79875" y="948015"/>
                  </a:lnTo>
                  <a:cubicBezTo>
                    <a:pt x="35761" y="948015"/>
                    <a:pt x="0" y="912254"/>
                    <a:pt x="0" y="868140"/>
                  </a:cubicBezTo>
                  <a:lnTo>
                    <a:pt x="0" y="79875"/>
                  </a:lnTo>
                  <a:cubicBezTo>
                    <a:pt x="0" y="58691"/>
                    <a:pt x="8415" y="38374"/>
                    <a:pt x="23395" y="23395"/>
                  </a:cubicBezTo>
                  <a:cubicBezTo>
                    <a:pt x="38374" y="8415"/>
                    <a:pt x="58691" y="0"/>
                    <a:pt x="79875" y="0"/>
                  </a:cubicBezTo>
                  <a:lnTo>
                    <a:pt x="2013346" y="0"/>
                  </a:lnTo>
                  <a:cubicBezTo>
                    <a:pt x="2057460" y="0"/>
                    <a:pt x="2093221" y="35761"/>
                    <a:pt x="2093221" y="79875"/>
                  </a:cubicBezTo>
                  <a:close/>
                </a:path>
              </a:pathLst>
            </a:custGeom>
            <a:ln w="28575" cap="rnd">
              <a:solidFill>
                <a:srgbClr val="000000"/>
              </a:solidFill>
              <a:prstDash val="solid"/>
              <a:round/>
            </a:ln>
          </p:spPr>
        </p:sp>
        <p:sp>
          <p:nvSpPr>
            <p:cNvPr name="TextBox 27" id="27"/>
            <p:cNvSpPr txBox="true"/>
            <p:nvPr/>
          </p:nvSpPr>
          <p:spPr>
            <a:xfrm>
              <a:off x="0" y="-57150"/>
              <a:ext cx="2093221" cy="1005165"/>
            </a:xfrm>
            <a:prstGeom prst="rect">
              <a:avLst/>
            </a:prstGeom>
          </p:spPr>
          <p:txBody>
            <a:bodyPr anchor="ctr" rtlCol="false" tIns="50800" lIns="50800" bIns="50800" rIns="50800"/>
            <a:lstStyle/>
            <a:p>
              <a:pPr algn="ctr">
                <a:lnSpc>
                  <a:spcPts val="3448"/>
                </a:lnSpc>
              </a:pPr>
            </a:p>
          </p:txBody>
        </p:sp>
      </p:grpSp>
      <p:grpSp>
        <p:nvGrpSpPr>
          <p:cNvPr name="Group 28" id="28"/>
          <p:cNvGrpSpPr/>
          <p:nvPr/>
        </p:nvGrpSpPr>
        <p:grpSpPr>
          <a:xfrm rot="0">
            <a:off x="9602662" y="7436251"/>
            <a:ext cx="7947924" cy="2534299"/>
            <a:chOff x="0" y="0"/>
            <a:chExt cx="2093221" cy="667473"/>
          </a:xfrm>
        </p:grpSpPr>
        <p:sp>
          <p:nvSpPr>
            <p:cNvPr name="Freeform 29" id="29"/>
            <p:cNvSpPr/>
            <p:nvPr/>
          </p:nvSpPr>
          <p:spPr>
            <a:xfrm flipH="false" flipV="false" rot="0">
              <a:off x="0" y="0"/>
              <a:ext cx="2093221" cy="667474"/>
            </a:xfrm>
            <a:custGeom>
              <a:avLst/>
              <a:gdLst/>
              <a:ahLst/>
              <a:cxnLst/>
              <a:rect r="r" b="b" t="t" l="l"/>
              <a:pathLst>
                <a:path h="667474" w="2093221">
                  <a:moveTo>
                    <a:pt x="2093221" y="79875"/>
                  </a:moveTo>
                  <a:lnTo>
                    <a:pt x="2093221" y="587599"/>
                  </a:lnTo>
                  <a:cubicBezTo>
                    <a:pt x="2093221" y="608783"/>
                    <a:pt x="2084806" y="629099"/>
                    <a:pt x="2069826" y="644079"/>
                  </a:cubicBezTo>
                  <a:cubicBezTo>
                    <a:pt x="2054847" y="659058"/>
                    <a:pt x="2034530" y="667474"/>
                    <a:pt x="2013346" y="667474"/>
                  </a:cubicBezTo>
                  <a:lnTo>
                    <a:pt x="79875" y="667474"/>
                  </a:lnTo>
                  <a:cubicBezTo>
                    <a:pt x="35761" y="667474"/>
                    <a:pt x="0" y="631712"/>
                    <a:pt x="0" y="587599"/>
                  </a:cubicBezTo>
                  <a:lnTo>
                    <a:pt x="0" y="79875"/>
                  </a:lnTo>
                  <a:cubicBezTo>
                    <a:pt x="0" y="58691"/>
                    <a:pt x="8415" y="38374"/>
                    <a:pt x="23395" y="23395"/>
                  </a:cubicBezTo>
                  <a:cubicBezTo>
                    <a:pt x="38374" y="8415"/>
                    <a:pt x="58691" y="0"/>
                    <a:pt x="79875" y="0"/>
                  </a:cubicBezTo>
                  <a:lnTo>
                    <a:pt x="2013346" y="0"/>
                  </a:lnTo>
                  <a:cubicBezTo>
                    <a:pt x="2057460" y="0"/>
                    <a:pt x="2093221" y="35761"/>
                    <a:pt x="2093221" y="79875"/>
                  </a:cubicBezTo>
                  <a:close/>
                </a:path>
              </a:pathLst>
            </a:custGeom>
            <a:ln w="28575" cap="rnd">
              <a:solidFill>
                <a:srgbClr val="000000"/>
              </a:solidFill>
              <a:prstDash val="solid"/>
              <a:round/>
            </a:ln>
          </p:spPr>
        </p:sp>
        <p:sp>
          <p:nvSpPr>
            <p:cNvPr name="TextBox 30" id="30"/>
            <p:cNvSpPr txBox="true"/>
            <p:nvPr/>
          </p:nvSpPr>
          <p:spPr>
            <a:xfrm>
              <a:off x="0" y="-57150"/>
              <a:ext cx="2093221" cy="724623"/>
            </a:xfrm>
            <a:prstGeom prst="rect">
              <a:avLst/>
            </a:prstGeom>
          </p:spPr>
          <p:txBody>
            <a:bodyPr anchor="ctr" rtlCol="false" tIns="50800" lIns="50800" bIns="50800" rIns="50800"/>
            <a:lstStyle/>
            <a:p>
              <a:pPr algn="ctr">
                <a:lnSpc>
                  <a:spcPts val="3448"/>
                </a:lnSpc>
              </a:pPr>
            </a:p>
          </p:txBody>
        </p:sp>
      </p:grpSp>
      <p:sp>
        <p:nvSpPr>
          <p:cNvPr name="TextBox 31" id="31"/>
          <p:cNvSpPr txBox="true"/>
          <p:nvPr/>
        </p:nvSpPr>
        <p:spPr>
          <a:xfrm rot="0">
            <a:off x="9848015" y="2850735"/>
            <a:ext cx="7411285" cy="1883283"/>
          </a:xfrm>
          <a:prstGeom prst="rect">
            <a:avLst/>
          </a:prstGeom>
        </p:spPr>
        <p:txBody>
          <a:bodyPr anchor="t" rtlCol="false" tIns="0" lIns="0" bIns="0" rIns="0">
            <a:spAutoFit/>
          </a:bodyPr>
          <a:lstStyle/>
          <a:p>
            <a:pPr algn="l" marL="589405" indent="-294703" lvl="1">
              <a:lnSpc>
                <a:spcPts val="3821"/>
              </a:lnSpc>
              <a:buFont typeface="Arial"/>
              <a:buChar char="•"/>
            </a:pPr>
            <a:r>
              <a:rPr lang="en-US" sz="2729">
                <a:solidFill>
                  <a:srgbClr val="000000"/>
                </a:solidFill>
                <a:latin typeface="Source Serif Pro"/>
                <a:ea typeface="Source Serif Pro"/>
                <a:cs typeface="Source Serif Pro"/>
                <a:sym typeface="Source Serif Pro"/>
              </a:rPr>
              <a:t>Steel legs with collapsible design for remote or hybrid workers.</a:t>
            </a:r>
          </a:p>
          <a:p>
            <a:pPr algn="l" marL="589405" indent="-294703" lvl="1">
              <a:lnSpc>
                <a:spcPts val="3821"/>
              </a:lnSpc>
              <a:buFont typeface="Arial"/>
              <a:buChar char="•"/>
            </a:pPr>
            <a:r>
              <a:rPr lang="en-US" sz="2729">
                <a:solidFill>
                  <a:srgbClr val="000000"/>
                </a:solidFill>
                <a:latin typeface="Source Serif Pro"/>
                <a:ea typeface="Source Serif Pro"/>
                <a:cs typeface="Source Serif Pro"/>
                <a:sym typeface="Source Serif Pro"/>
              </a:rPr>
              <a:t>Adjustable height and cable management.</a:t>
            </a:r>
          </a:p>
          <a:p>
            <a:pPr algn="l" marL="589405" indent="-294703" lvl="1">
              <a:lnSpc>
                <a:spcPts val="3821"/>
              </a:lnSpc>
              <a:buFont typeface="Arial"/>
              <a:buChar char="•"/>
            </a:pPr>
            <a:r>
              <a:rPr lang="en-US" sz="2729">
                <a:solidFill>
                  <a:srgbClr val="000000"/>
                </a:solidFill>
                <a:latin typeface="Source Serif Pro"/>
                <a:ea typeface="Source Serif Pro"/>
                <a:cs typeface="Source Serif Pro"/>
                <a:sym typeface="Source Serif Pro"/>
              </a:rPr>
              <a:t>Price Range: ₹8,000 – ₹12,000.</a:t>
            </a:r>
          </a:p>
        </p:txBody>
      </p:sp>
      <p:sp>
        <p:nvSpPr>
          <p:cNvPr name="TextBox 32" id="32"/>
          <p:cNvSpPr txBox="true"/>
          <p:nvPr/>
        </p:nvSpPr>
        <p:spPr>
          <a:xfrm rot="0">
            <a:off x="9848015" y="7589165"/>
            <a:ext cx="7388174" cy="2323132"/>
          </a:xfrm>
          <a:prstGeom prst="rect">
            <a:avLst/>
          </a:prstGeom>
        </p:spPr>
        <p:txBody>
          <a:bodyPr anchor="t" rtlCol="false" tIns="0" lIns="0" bIns="0" rIns="0">
            <a:spAutoFit/>
          </a:bodyPr>
          <a:lstStyle/>
          <a:p>
            <a:pPr algn="l" marL="574962" indent="-287481" lvl="1">
              <a:lnSpc>
                <a:spcPts val="3728"/>
              </a:lnSpc>
              <a:buFont typeface="Arial"/>
              <a:buChar char="•"/>
            </a:pPr>
            <a:r>
              <a:rPr lang="en-US" sz="2663">
                <a:solidFill>
                  <a:srgbClr val="000000"/>
                </a:solidFill>
                <a:latin typeface="Source Serif Pro"/>
                <a:ea typeface="Source Serif Pro"/>
                <a:cs typeface="Source Serif Pro"/>
                <a:sym typeface="Source Serif Pro"/>
              </a:rPr>
              <a:t>Compact stacked units using prelaminated panels and steel frame dividers.</a:t>
            </a:r>
          </a:p>
          <a:p>
            <a:pPr algn="l" marL="574962" indent="-287481" lvl="1">
              <a:lnSpc>
                <a:spcPts val="3728"/>
              </a:lnSpc>
              <a:buFont typeface="Arial"/>
              <a:buChar char="•"/>
            </a:pPr>
            <a:r>
              <a:rPr lang="en-US" sz="2663">
                <a:solidFill>
                  <a:srgbClr val="000000"/>
                </a:solidFill>
                <a:latin typeface="Source Serif Pro"/>
                <a:ea typeface="Source Serif Pro"/>
                <a:cs typeface="Source Serif Pro"/>
                <a:sym typeface="Source Serif Pro"/>
              </a:rPr>
              <a:t>Easy to clean, highly durable, perfect for city apartments.</a:t>
            </a:r>
          </a:p>
          <a:p>
            <a:pPr algn="l" marL="574962" indent="-287481" lvl="1">
              <a:lnSpc>
                <a:spcPts val="3728"/>
              </a:lnSpc>
              <a:buFont typeface="Arial"/>
              <a:buChar char="•"/>
            </a:pPr>
            <a:r>
              <a:rPr lang="en-US" sz="2663">
                <a:solidFill>
                  <a:srgbClr val="000000"/>
                </a:solidFill>
                <a:latin typeface="Source Serif Pro"/>
                <a:ea typeface="Source Serif Pro"/>
                <a:cs typeface="Source Serif Pro"/>
                <a:sym typeface="Source Serif Pro"/>
              </a:rPr>
              <a:t>Price Range: ₹3,000 – ₹9,000.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0">
            <a:off x="2169525" y="2524452"/>
            <a:ext cx="6278496" cy="6257568"/>
          </a:xfrm>
          <a:custGeom>
            <a:avLst/>
            <a:gdLst/>
            <a:ahLst/>
            <a:cxnLst/>
            <a:rect r="r" b="b" t="t" l="l"/>
            <a:pathLst>
              <a:path h="6257568" w="6278496">
                <a:moveTo>
                  <a:pt x="0" y="0"/>
                </a:moveTo>
                <a:lnTo>
                  <a:pt x="6278497" y="0"/>
                </a:lnTo>
                <a:lnTo>
                  <a:pt x="6278497" y="6257568"/>
                </a:lnTo>
                <a:lnTo>
                  <a:pt x="0" y="6257568"/>
                </a:lnTo>
                <a:lnTo>
                  <a:pt x="0" y="0"/>
                </a:lnTo>
                <a:close/>
              </a:path>
            </a:pathLst>
          </a:custGeom>
          <a:blipFill>
            <a:blip r:embed="rId2"/>
            <a:stretch>
              <a:fillRect l="0" t="0" r="0" b="0"/>
            </a:stretch>
          </a:blipFill>
        </p:spPr>
      </p:sp>
      <p:sp>
        <p:nvSpPr>
          <p:cNvPr name="Freeform 3" id="3"/>
          <p:cNvSpPr/>
          <p:nvPr/>
        </p:nvSpPr>
        <p:spPr>
          <a:xfrm flipH="false" flipV="false" rot="0">
            <a:off x="9819327" y="2524452"/>
            <a:ext cx="6257568" cy="6257568"/>
          </a:xfrm>
          <a:custGeom>
            <a:avLst/>
            <a:gdLst/>
            <a:ahLst/>
            <a:cxnLst/>
            <a:rect r="r" b="b" t="t" l="l"/>
            <a:pathLst>
              <a:path h="6257568" w="6257568">
                <a:moveTo>
                  <a:pt x="0" y="0"/>
                </a:moveTo>
                <a:lnTo>
                  <a:pt x="6257568" y="0"/>
                </a:lnTo>
                <a:lnTo>
                  <a:pt x="6257568" y="6257568"/>
                </a:lnTo>
                <a:lnTo>
                  <a:pt x="0" y="6257568"/>
                </a:lnTo>
                <a:lnTo>
                  <a:pt x="0" y="0"/>
                </a:lnTo>
                <a:close/>
              </a:path>
            </a:pathLst>
          </a:custGeom>
          <a:blipFill>
            <a:blip r:embed="rId3"/>
            <a:stretch>
              <a:fillRect l="0" t="0" r="0" b="0"/>
            </a:stretch>
          </a:blipFill>
        </p:spPr>
      </p:sp>
      <p:sp>
        <p:nvSpPr>
          <p:cNvPr name="Freeform 4" id="4"/>
          <p:cNvSpPr/>
          <p:nvPr/>
        </p:nvSpPr>
        <p:spPr>
          <a:xfrm flipH="false" flipV="false" rot="0">
            <a:off x="9225463" y="436223"/>
            <a:ext cx="947439" cy="816206"/>
          </a:xfrm>
          <a:custGeom>
            <a:avLst/>
            <a:gdLst/>
            <a:ahLst/>
            <a:cxnLst/>
            <a:rect r="r" b="b" t="t" l="l"/>
            <a:pathLst>
              <a:path h="816206" w="947439">
                <a:moveTo>
                  <a:pt x="0" y="0"/>
                </a:moveTo>
                <a:lnTo>
                  <a:pt x="947439" y="0"/>
                </a:lnTo>
                <a:lnTo>
                  <a:pt x="947439" y="816206"/>
                </a:lnTo>
                <a:lnTo>
                  <a:pt x="0" y="816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078075" y="491901"/>
            <a:ext cx="7065925" cy="923925"/>
          </a:xfrm>
          <a:prstGeom prst="rect">
            <a:avLst/>
          </a:prstGeom>
        </p:spPr>
        <p:txBody>
          <a:bodyPr anchor="t" rtlCol="false" tIns="0" lIns="0" bIns="0" rIns="0">
            <a:spAutoFit/>
          </a:bodyPr>
          <a:lstStyle/>
          <a:p>
            <a:pPr algn="l">
              <a:lnSpc>
                <a:spcPts val="6750"/>
              </a:lnSpc>
            </a:pPr>
            <a:r>
              <a:rPr lang="en-US" sz="7500" b="true">
                <a:solidFill>
                  <a:srgbClr val="171717"/>
                </a:solidFill>
                <a:latin typeface="Source Serif Pro Bold"/>
                <a:ea typeface="Source Serif Pro Bold"/>
                <a:cs typeface="Source Serif Pro Bold"/>
                <a:sym typeface="Source Serif Pro Bold"/>
              </a:rPr>
              <a:t>Visual Elements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TextBox 2" id="2"/>
          <p:cNvSpPr txBox="true"/>
          <p:nvPr/>
        </p:nvSpPr>
        <p:spPr>
          <a:xfrm rot="0">
            <a:off x="2078075" y="491901"/>
            <a:ext cx="12854669" cy="923925"/>
          </a:xfrm>
          <a:prstGeom prst="rect">
            <a:avLst/>
          </a:prstGeom>
        </p:spPr>
        <p:txBody>
          <a:bodyPr anchor="t" rtlCol="false" tIns="0" lIns="0" bIns="0" rIns="0">
            <a:spAutoFit/>
          </a:bodyPr>
          <a:lstStyle/>
          <a:p>
            <a:pPr algn="l">
              <a:lnSpc>
                <a:spcPts val="6750"/>
              </a:lnSpc>
            </a:pPr>
            <a:r>
              <a:rPr lang="en-US" sz="7500" b="true">
                <a:solidFill>
                  <a:srgbClr val="000000"/>
                </a:solidFill>
                <a:latin typeface="Source Serif Pro Bold"/>
                <a:ea typeface="Source Serif Pro Bold"/>
                <a:cs typeface="Source Serif Pro Bold"/>
                <a:sym typeface="Source Serif Pro Bold"/>
              </a:rPr>
              <a:t>Visual Elements</a:t>
            </a:r>
          </a:p>
        </p:txBody>
      </p:sp>
      <p:sp>
        <p:nvSpPr>
          <p:cNvPr name="Freeform 3" id="3"/>
          <p:cNvSpPr/>
          <p:nvPr/>
        </p:nvSpPr>
        <p:spPr>
          <a:xfrm flipH="false" flipV="false" rot="0">
            <a:off x="2169525" y="2524452"/>
            <a:ext cx="6311213" cy="6290176"/>
          </a:xfrm>
          <a:custGeom>
            <a:avLst/>
            <a:gdLst/>
            <a:ahLst/>
            <a:cxnLst/>
            <a:rect r="r" b="b" t="t" l="l"/>
            <a:pathLst>
              <a:path h="6290176" w="6311213">
                <a:moveTo>
                  <a:pt x="0" y="0"/>
                </a:moveTo>
                <a:lnTo>
                  <a:pt x="6311213" y="0"/>
                </a:lnTo>
                <a:lnTo>
                  <a:pt x="6311213" y="6290176"/>
                </a:lnTo>
                <a:lnTo>
                  <a:pt x="0" y="6290176"/>
                </a:lnTo>
                <a:lnTo>
                  <a:pt x="0" y="0"/>
                </a:lnTo>
                <a:close/>
              </a:path>
            </a:pathLst>
          </a:custGeom>
          <a:blipFill>
            <a:blip r:embed="rId2"/>
            <a:stretch>
              <a:fillRect l="0" t="0" r="-7111" b="-7470"/>
            </a:stretch>
          </a:blipFill>
        </p:spPr>
      </p:sp>
      <p:sp>
        <p:nvSpPr>
          <p:cNvPr name="Freeform 4" id="4"/>
          <p:cNvSpPr/>
          <p:nvPr/>
        </p:nvSpPr>
        <p:spPr>
          <a:xfrm flipH="false" flipV="false" rot="0">
            <a:off x="9859189" y="2524452"/>
            <a:ext cx="6502572" cy="6290176"/>
          </a:xfrm>
          <a:custGeom>
            <a:avLst/>
            <a:gdLst/>
            <a:ahLst/>
            <a:cxnLst/>
            <a:rect r="r" b="b" t="t" l="l"/>
            <a:pathLst>
              <a:path h="6290176" w="6502572">
                <a:moveTo>
                  <a:pt x="0" y="0"/>
                </a:moveTo>
                <a:lnTo>
                  <a:pt x="6502572" y="0"/>
                </a:lnTo>
                <a:lnTo>
                  <a:pt x="6502572" y="6290176"/>
                </a:lnTo>
                <a:lnTo>
                  <a:pt x="0" y="6290176"/>
                </a:lnTo>
                <a:lnTo>
                  <a:pt x="0" y="0"/>
                </a:lnTo>
                <a:close/>
              </a:path>
            </a:pathLst>
          </a:custGeom>
          <a:blipFill>
            <a:blip r:embed="rId3"/>
            <a:stretch>
              <a:fillRect l="-3779" t="-7311" r="-4005" b="-4113"/>
            </a:stretch>
          </a:blipFill>
        </p:spPr>
      </p:sp>
      <p:sp>
        <p:nvSpPr>
          <p:cNvPr name="Freeform 5" id="5"/>
          <p:cNvSpPr/>
          <p:nvPr/>
        </p:nvSpPr>
        <p:spPr>
          <a:xfrm flipH="false" flipV="false" rot="0">
            <a:off x="9225463" y="436223"/>
            <a:ext cx="947439" cy="816206"/>
          </a:xfrm>
          <a:custGeom>
            <a:avLst/>
            <a:gdLst/>
            <a:ahLst/>
            <a:cxnLst/>
            <a:rect r="r" b="b" t="t" l="l"/>
            <a:pathLst>
              <a:path h="816206" w="947439">
                <a:moveTo>
                  <a:pt x="0" y="0"/>
                </a:moveTo>
                <a:lnTo>
                  <a:pt x="947439" y="0"/>
                </a:lnTo>
                <a:lnTo>
                  <a:pt x="947439" y="816206"/>
                </a:lnTo>
                <a:lnTo>
                  <a:pt x="0" y="816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928039">
            <a:off x="12549385" y="-2348513"/>
            <a:ext cx="7560275" cy="7532783"/>
          </a:xfrm>
          <a:custGeom>
            <a:avLst/>
            <a:gdLst/>
            <a:ahLst/>
            <a:cxnLst/>
            <a:rect r="r" b="b" t="t" l="l"/>
            <a:pathLst>
              <a:path h="7532783" w="7560275">
                <a:moveTo>
                  <a:pt x="0" y="0"/>
                </a:moveTo>
                <a:lnTo>
                  <a:pt x="7560275" y="0"/>
                </a:lnTo>
                <a:lnTo>
                  <a:pt x="7560275" y="7532783"/>
                </a:lnTo>
                <a:lnTo>
                  <a:pt x="0" y="753278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11360" y="432230"/>
            <a:ext cx="4970454" cy="4031863"/>
          </a:xfrm>
          <a:custGeom>
            <a:avLst/>
            <a:gdLst/>
            <a:ahLst/>
            <a:cxnLst/>
            <a:rect r="r" b="b" t="t" l="l"/>
            <a:pathLst>
              <a:path h="4031863" w="4970454">
                <a:moveTo>
                  <a:pt x="0" y="0"/>
                </a:moveTo>
                <a:lnTo>
                  <a:pt x="4970455" y="0"/>
                </a:lnTo>
                <a:lnTo>
                  <a:pt x="4970455" y="4031863"/>
                </a:lnTo>
                <a:lnTo>
                  <a:pt x="0" y="4031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792224" y="4145189"/>
            <a:ext cx="2495776" cy="1996621"/>
          </a:xfrm>
          <a:custGeom>
            <a:avLst/>
            <a:gdLst/>
            <a:ahLst/>
            <a:cxnLst/>
            <a:rect r="r" b="b" t="t" l="l"/>
            <a:pathLst>
              <a:path h="1996621" w="2495776">
                <a:moveTo>
                  <a:pt x="0" y="0"/>
                </a:moveTo>
                <a:lnTo>
                  <a:pt x="2495776" y="0"/>
                </a:lnTo>
                <a:lnTo>
                  <a:pt x="2495776" y="1996622"/>
                </a:lnTo>
                <a:lnTo>
                  <a:pt x="0" y="19966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5" id="5"/>
          <p:cNvGraphicFramePr>
            <a:graphicFrameLocks noGrp="true"/>
          </p:cNvGraphicFramePr>
          <p:nvPr/>
        </p:nvGraphicFramePr>
        <p:xfrm>
          <a:off x="1028700" y="2654742"/>
          <a:ext cx="13281921" cy="7200900"/>
        </p:xfrm>
        <a:graphic>
          <a:graphicData uri="http://schemas.openxmlformats.org/drawingml/2006/table">
            <a:tbl>
              <a:tblPr/>
              <a:tblGrid>
                <a:gridCol w="6273210"/>
                <a:gridCol w="7008711"/>
              </a:tblGrid>
              <a:tr h="880961">
                <a:tc>
                  <a:txBody>
                    <a:bodyPr anchor="t" rtlCol="false"/>
                    <a:lstStyle/>
                    <a:p>
                      <a:pPr algn="just">
                        <a:lnSpc>
                          <a:spcPts val="3499"/>
                        </a:lnSpc>
                        <a:defRPr/>
                      </a:pPr>
                      <a:r>
                        <a:rPr lang="en-US" sz="2499" b="true">
                          <a:solidFill>
                            <a:srgbClr val="000000"/>
                          </a:solidFill>
                          <a:latin typeface="Source Serif Pro Bold"/>
                          <a:ea typeface="Source Serif Pro Bold"/>
                          <a:cs typeface="Source Serif Pro Bold"/>
                          <a:sym typeface="Source Serif Pro Bold"/>
                        </a:rPr>
                        <a:t>Area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080"/>
                        </a:lnSpc>
                        <a:defRPr/>
                      </a:pPr>
                      <a:r>
                        <a:rPr lang="en-US" sz="2200" b="true">
                          <a:solidFill>
                            <a:srgbClr val="000000"/>
                          </a:solidFill>
                          <a:latin typeface="Source Serif Pro Bold"/>
                          <a:ea typeface="Source Serif Pro Bold"/>
                          <a:cs typeface="Source Serif Pro Bold"/>
                          <a:sym typeface="Source Serif Pro Bold"/>
                        </a:rPr>
                        <a:t>Practice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5685">
                <a:tc>
                  <a:txBody>
                    <a:bodyPr anchor="t" rtlCol="false"/>
                    <a:lstStyle/>
                    <a:p>
                      <a:pPr algn="just">
                        <a:lnSpc>
                          <a:spcPts val="3080"/>
                        </a:lnSpc>
                        <a:defRPr/>
                      </a:pPr>
                      <a:r>
                        <a:rPr lang="en-US" sz="2200">
                          <a:solidFill>
                            <a:srgbClr val="000000"/>
                          </a:solidFill>
                          <a:latin typeface="Source Serif Pro"/>
                          <a:ea typeface="Source Serif Pro"/>
                          <a:cs typeface="Source Serif Pro"/>
                          <a:sym typeface="Source Serif Pro"/>
                        </a:rPr>
                        <a:t>Material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079"/>
                        </a:lnSpc>
                        <a:defRPr/>
                      </a:pPr>
                      <a:r>
                        <a:rPr lang="en-US" sz="2199">
                          <a:solidFill>
                            <a:srgbClr val="000000"/>
                          </a:solidFill>
                          <a:latin typeface="Source Serif Pro"/>
                          <a:ea typeface="Source Serif Pro"/>
                          <a:cs typeface="Source Serif Pro"/>
                          <a:sym typeface="Source Serif Pro"/>
                        </a:rPr>
                        <a:t>E</a:t>
                      </a:r>
                      <a:r>
                        <a:rPr lang="en-US" sz="2199">
                          <a:solidFill>
                            <a:srgbClr val="000000"/>
                          </a:solidFill>
                          <a:latin typeface="Source Serif Pro"/>
                          <a:ea typeface="Source Serif Pro"/>
                          <a:cs typeface="Source Serif Pro"/>
                          <a:sym typeface="Source Serif Pro"/>
                        </a:rPr>
                        <a:t>ngineered wood</a:t>
                      </a:r>
                      <a:r>
                        <a:rPr lang="en-US" sz="2199">
                          <a:solidFill>
                            <a:srgbClr val="000000"/>
                          </a:solidFill>
                          <a:latin typeface="Source Serif Pro"/>
                          <a:ea typeface="Source Serif Pro"/>
                          <a:cs typeface="Source Serif Pro"/>
                          <a:sym typeface="Source Serif Pro"/>
                        </a:rPr>
                        <a:t>, which uses fewer trees</a:t>
                      </a:r>
                      <a:endParaRPr lang="en-US" sz="1100"/>
                    </a:p>
                    <a:p>
                      <a:pPr algn="l">
                        <a:lnSpc>
                          <a:spcPts val="3079"/>
                        </a:lnSpc>
                      </a:pPr>
                      <a:r>
                        <a:rPr lang="en-US" sz="2199">
                          <a:solidFill>
                            <a:srgbClr val="000000"/>
                          </a:solidFill>
                          <a:latin typeface="Source Serif Pro"/>
                          <a:ea typeface="Source Serif Pro"/>
                          <a:cs typeface="Source Serif Pro"/>
                          <a:sym typeface="Source Serif Pro"/>
                        </a:rPr>
                        <a:t>recyclable metals and plastic</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5685">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Material Certification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080"/>
                        </a:lnSpc>
                        <a:defRPr/>
                      </a:pPr>
                      <a:r>
                        <a:rPr lang="en-US" sz="2200">
                          <a:solidFill>
                            <a:srgbClr val="000000"/>
                          </a:solidFill>
                          <a:latin typeface="Source Serif Pro"/>
                          <a:ea typeface="Source Serif Pro"/>
                          <a:cs typeface="Source Serif Pro"/>
                          <a:sym typeface="Source Serif Pro"/>
                        </a:rPr>
                        <a:t>Use of E1/E0 grade boards with low formaldehyde emission.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0961">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Durability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080"/>
                        </a:lnSpc>
                        <a:defRPr/>
                      </a:pPr>
                      <a:r>
                        <a:rPr lang="en-US" sz="2200">
                          <a:solidFill>
                            <a:srgbClr val="000000"/>
                          </a:solidFill>
                          <a:latin typeface="Source Serif Pro"/>
                          <a:ea typeface="Source Serif Pro"/>
                          <a:cs typeface="Source Serif Pro"/>
                          <a:sym typeface="Source Serif Pro"/>
                        </a:rPr>
                        <a:t>Long product life = reduced waste.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0961">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Powder Coating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080"/>
                        </a:lnSpc>
                        <a:defRPr/>
                      </a:pPr>
                      <a:r>
                        <a:rPr lang="en-US" sz="2200">
                          <a:solidFill>
                            <a:srgbClr val="000000"/>
                          </a:solidFill>
                          <a:latin typeface="Source Serif Pro"/>
                          <a:ea typeface="Source Serif Pro"/>
                          <a:cs typeface="Source Serif Pro"/>
                          <a:sym typeface="Source Serif Pro"/>
                        </a:rPr>
                        <a:t>Solvent-free, recyclable, minimal VOC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0961">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Energy Efficiency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080"/>
                        </a:lnSpc>
                        <a:defRPr/>
                      </a:pPr>
                      <a:r>
                        <a:rPr lang="en-US" sz="2200">
                          <a:solidFill>
                            <a:srgbClr val="000000"/>
                          </a:solidFill>
                          <a:latin typeface="Source Serif Pro"/>
                          <a:ea typeface="Source Serif Pro"/>
                          <a:cs typeface="Source Serif Pro"/>
                          <a:sym typeface="Source Serif Pro"/>
                        </a:rPr>
                        <a:t>Solar energy used in cutting and coating units.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5685">
                <a:tc>
                  <a:txBody>
                    <a:bodyPr anchor="t" rtlCol="false"/>
                    <a:lstStyle/>
                    <a:p>
                      <a:pPr algn="just">
                        <a:lnSpc>
                          <a:spcPts val="3499"/>
                        </a:lnSpc>
                        <a:defRPr/>
                      </a:pPr>
                      <a:r>
                        <a:rPr lang="en-US" sz="2499">
                          <a:solidFill>
                            <a:srgbClr val="000000"/>
                          </a:solidFill>
                          <a:latin typeface="Source Serif Pro"/>
                          <a:ea typeface="Source Serif Pro"/>
                          <a:cs typeface="Source Serif Pro"/>
                          <a:sym typeface="Source Serif Pro"/>
                        </a:rPr>
                        <a:t>Packaging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3080"/>
                        </a:lnSpc>
                        <a:defRPr/>
                      </a:pPr>
                      <a:r>
                        <a:rPr lang="en-US" sz="2200">
                          <a:solidFill>
                            <a:srgbClr val="000000"/>
                          </a:solidFill>
                          <a:latin typeface="Source Serif Pro"/>
                          <a:ea typeface="Source Serif Pro"/>
                          <a:cs typeface="Source Serif Pro"/>
                          <a:sym typeface="Source Serif Pro"/>
                        </a:rPr>
                        <a:t>Corrugated cardboard and recyclable paper filling (no plastic wrap).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028700" y="845751"/>
            <a:ext cx="11237287" cy="981711"/>
          </a:xfrm>
          <a:prstGeom prst="rect">
            <a:avLst/>
          </a:prstGeom>
        </p:spPr>
        <p:txBody>
          <a:bodyPr anchor="t" rtlCol="false" tIns="0" lIns="0" bIns="0" rIns="0">
            <a:spAutoFit/>
          </a:bodyPr>
          <a:lstStyle/>
          <a:p>
            <a:pPr algn="l">
              <a:lnSpc>
                <a:spcPts val="7120"/>
              </a:lnSpc>
            </a:pPr>
            <a:r>
              <a:rPr lang="en-US" sz="8000" b="true">
                <a:solidFill>
                  <a:srgbClr val="111111"/>
                </a:solidFill>
                <a:latin typeface="Source Serif Pro Bold"/>
                <a:ea typeface="Source Serif Pro Bold"/>
                <a:cs typeface="Source Serif Pro Bold"/>
                <a:sym typeface="Source Serif Pro Bold"/>
              </a:rPr>
              <a:t>Material Sustainability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4213749" y="2117884"/>
          <a:ext cx="13045551" cy="5558556"/>
        </p:xfrm>
        <a:graphic>
          <a:graphicData uri="http://schemas.openxmlformats.org/drawingml/2006/table">
            <a:tbl>
              <a:tblPr/>
              <a:tblGrid>
                <a:gridCol w="2609110"/>
                <a:gridCol w="2609110"/>
                <a:gridCol w="2609110"/>
                <a:gridCol w="2609110"/>
                <a:gridCol w="2609110"/>
              </a:tblGrid>
              <a:tr h="1357812">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Brand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Source Serif Pro"/>
                          <a:ea typeface="Source Serif Pro"/>
                          <a:cs typeface="Source Serif Pro"/>
                          <a:sym typeface="Source Serif Pro"/>
                        </a:rPr>
                        <a:t>Material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Source Serif Pro"/>
                          <a:ea typeface="Source Serif Pro"/>
                          <a:cs typeface="Source Serif Pro"/>
                          <a:sym typeface="Source Serif Pro"/>
                        </a:rPr>
                        <a:t>Target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Source Serif Pro"/>
                          <a:ea typeface="Source Serif Pro"/>
                          <a:cs typeface="Source Serif Pro"/>
                          <a:sym typeface="Source Serif Pro"/>
                        </a:rPr>
                        <a:t>Design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a:solidFill>
                            <a:srgbClr val="000000"/>
                          </a:solidFill>
                          <a:latin typeface="Source Serif Pro"/>
                          <a:ea typeface="Source Serif Pro"/>
                          <a:cs typeface="Source Serif Pro"/>
                          <a:sym typeface="Source Serif Pro"/>
                        </a:rPr>
                        <a:t>Price Range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00248">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Godrej Interio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MDF, Metal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Families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Traditional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₹10,000–₹1,50,000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00248">
                <a:tc>
                  <a:txBody>
                    <a:bodyPr anchor="t" rtlCol="false"/>
                    <a:lstStyle/>
                    <a:p>
                      <a:pPr algn="ctr">
                        <a:lnSpc>
                          <a:spcPts val="3779"/>
                        </a:lnSpc>
                        <a:defRPr/>
                      </a:pPr>
                      <a:r>
                        <a:rPr lang="en-US" sz="2699">
                          <a:solidFill>
                            <a:srgbClr val="000000"/>
                          </a:solidFill>
                          <a:latin typeface="Source Serif Pro"/>
                          <a:ea typeface="Source Serif Pro"/>
                          <a:cs typeface="Source Serif Pro"/>
                          <a:sym typeface="Source Serif Pro"/>
                        </a:rPr>
                        <a:t>IKEA India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Fibreboard, Metal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Urban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Scandinavian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₹1,999–₹80,000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00248">
                <a:tc>
                  <a:txBody>
                    <a:bodyPr anchor="t" rtlCol="false"/>
                    <a:lstStyle/>
                    <a:p>
                      <a:pPr algn="ctr">
                        <a:lnSpc>
                          <a:spcPts val="3779"/>
                        </a:lnSpc>
                        <a:defRPr/>
                      </a:pPr>
                      <a:r>
                        <a:rPr lang="en-US" sz="2699">
                          <a:solidFill>
                            <a:srgbClr val="000000"/>
                          </a:solidFill>
                          <a:latin typeface="Source Serif Pro"/>
                          <a:ea typeface="Source Serif Pro"/>
                          <a:cs typeface="Source Serif Pro"/>
                          <a:sym typeface="Source Serif Pro"/>
                        </a:rPr>
                        <a:t>Woodenstreet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Solid Wood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Online Buyers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Modern Rustic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Source Serif Pro"/>
                          <a:ea typeface="Source Serif Pro"/>
                          <a:cs typeface="Source Serif Pro"/>
                          <a:sym typeface="Source Serif Pro"/>
                        </a:rPr>
                        <a:t>₹20,000–₹70,000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4213749" y="249151"/>
            <a:ext cx="12707092" cy="1043306"/>
          </a:xfrm>
          <a:prstGeom prst="rect">
            <a:avLst/>
          </a:prstGeom>
        </p:spPr>
        <p:txBody>
          <a:bodyPr anchor="t" rtlCol="false" tIns="0" lIns="0" bIns="0" rIns="0">
            <a:spAutoFit/>
          </a:bodyPr>
          <a:lstStyle/>
          <a:p>
            <a:pPr algn="l">
              <a:lnSpc>
                <a:spcPts val="7760"/>
              </a:lnSpc>
            </a:pPr>
            <a:r>
              <a:rPr lang="en-US" sz="8000" spc="-520" b="true">
                <a:solidFill>
                  <a:srgbClr val="171717"/>
                </a:solidFill>
                <a:latin typeface="Source Serif Pro Bold"/>
                <a:ea typeface="Source Serif Pro Bold"/>
                <a:cs typeface="Source Serif Pro Bold"/>
                <a:sym typeface="Source Serif Pro Bold"/>
              </a:rPr>
              <a:t>Competitor Analysis</a:t>
            </a:r>
          </a:p>
        </p:txBody>
      </p:sp>
      <p:grpSp>
        <p:nvGrpSpPr>
          <p:cNvPr name="Group 4" id="4"/>
          <p:cNvGrpSpPr/>
          <p:nvPr/>
        </p:nvGrpSpPr>
        <p:grpSpPr>
          <a:xfrm rot="0">
            <a:off x="-807159" y="1663487"/>
            <a:ext cx="3671718" cy="7911279"/>
            <a:chOff x="0" y="0"/>
            <a:chExt cx="4895625" cy="10548372"/>
          </a:xfrm>
        </p:grpSpPr>
        <p:sp>
          <p:nvSpPr>
            <p:cNvPr name="Freeform 5" id="5"/>
            <p:cNvSpPr/>
            <p:nvPr/>
          </p:nvSpPr>
          <p:spPr>
            <a:xfrm flipH="false" flipV="false" rot="0">
              <a:off x="629817" y="6887534"/>
              <a:ext cx="4265808" cy="3660838"/>
            </a:xfrm>
            <a:custGeom>
              <a:avLst/>
              <a:gdLst/>
              <a:ahLst/>
              <a:cxnLst/>
              <a:rect r="r" b="b" t="t" l="l"/>
              <a:pathLst>
                <a:path h="3660838" w="4265808">
                  <a:moveTo>
                    <a:pt x="0" y="0"/>
                  </a:moveTo>
                  <a:lnTo>
                    <a:pt x="4265808" y="0"/>
                  </a:lnTo>
                  <a:lnTo>
                    <a:pt x="4265808" y="3660838"/>
                  </a:lnTo>
                  <a:lnTo>
                    <a:pt x="0" y="3660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3315942"/>
              <a:ext cx="2238829" cy="3223445"/>
            </a:xfrm>
            <a:custGeom>
              <a:avLst/>
              <a:gdLst/>
              <a:ahLst/>
              <a:cxnLst/>
              <a:rect r="r" b="b" t="t" l="l"/>
              <a:pathLst>
                <a:path h="3223445" w="2238829">
                  <a:moveTo>
                    <a:pt x="0" y="0"/>
                  </a:moveTo>
                  <a:lnTo>
                    <a:pt x="2238829" y="0"/>
                  </a:lnTo>
                  <a:lnTo>
                    <a:pt x="2238829" y="3223445"/>
                  </a:lnTo>
                  <a:lnTo>
                    <a:pt x="0" y="32234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19414" y="0"/>
              <a:ext cx="3189334" cy="3315942"/>
            </a:xfrm>
            <a:custGeom>
              <a:avLst/>
              <a:gdLst/>
              <a:ahLst/>
              <a:cxnLst/>
              <a:rect r="r" b="b" t="t" l="l"/>
              <a:pathLst>
                <a:path h="3315942" w="3189334">
                  <a:moveTo>
                    <a:pt x="0" y="0"/>
                  </a:moveTo>
                  <a:lnTo>
                    <a:pt x="3189334" y="0"/>
                  </a:lnTo>
                  <a:lnTo>
                    <a:pt x="3189334" y="3315942"/>
                  </a:lnTo>
                  <a:lnTo>
                    <a:pt x="0" y="33159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2984692">
            <a:off x="17033310" y="3884231"/>
            <a:ext cx="2509380" cy="2518539"/>
          </a:xfrm>
          <a:custGeom>
            <a:avLst/>
            <a:gdLst/>
            <a:ahLst/>
            <a:cxnLst/>
            <a:rect r="r" b="b" t="t" l="l"/>
            <a:pathLst>
              <a:path h="2518539" w="2509380">
                <a:moveTo>
                  <a:pt x="0" y="0"/>
                </a:moveTo>
                <a:lnTo>
                  <a:pt x="2509380" y="0"/>
                </a:lnTo>
                <a:lnTo>
                  <a:pt x="2509380" y="2518538"/>
                </a:lnTo>
                <a:lnTo>
                  <a:pt x="0" y="2518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382172">
            <a:off x="14446209" y="8623348"/>
            <a:ext cx="2189847" cy="2197840"/>
          </a:xfrm>
          <a:custGeom>
            <a:avLst/>
            <a:gdLst/>
            <a:ahLst/>
            <a:cxnLst/>
            <a:rect r="r" b="b" t="t" l="l"/>
            <a:pathLst>
              <a:path h="2197840" w="2189847">
                <a:moveTo>
                  <a:pt x="0" y="0"/>
                </a:moveTo>
                <a:lnTo>
                  <a:pt x="2189847" y="0"/>
                </a:lnTo>
                <a:lnTo>
                  <a:pt x="2189847" y="2197839"/>
                </a:lnTo>
                <a:lnTo>
                  <a:pt x="0" y="21978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592938" y="5940760"/>
            <a:ext cx="4637525" cy="3030901"/>
          </a:xfrm>
          <a:custGeom>
            <a:avLst/>
            <a:gdLst/>
            <a:ahLst/>
            <a:cxnLst/>
            <a:rect r="r" b="b" t="t" l="l"/>
            <a:pathLst>
              <a:path h="3030901" w="4637525">
                <a:moveTo>
                  <a:pt x="4637525" y="0"/>
                </a:moveTo>
                <a:lnTo>
                  <a:pt x="0" y="0"/>
                </a:lnTo>
                <a:lnTo>
                  <a:pt x="0" y="3030901"/>
                </a:lnTo>
                <a:lnTo>
                  <a:pt x="4637525" y="3030901"/>
                </a:lnTo>
                <a:lnTo>
                  <a:pt x="463752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3407" y="583565"/>
            <a:ext cx="13942739" cy="1052196"/>
          </a:xfrm>
          <a:prstGeom prst="rect">
            <a:avLst/>
          </a:prstGeom>
        </p:spPr>
        <p:txBody>
          <a:bodyPr anchor="t" rtlCol="false" tIns="0" lIns="0" bIns="0" rIns="0">
            <a:spAutoFit/>
          </a:bodyPr>
          <a:lstStyle/>
          <a:p>
            <a:pPr algn="l" marL="0" indent="0" lvl="0">
              <a:lnSpc>
                <a:spcPts val="7840"/>
              </a:lnSpc>
            </a:pPr>
            <a:r>
              <a:rPr lang="en-US" b="true" sz="8000" spc="-520">
                <a:solidFill>
                  <a:srgbClr val="171717"/>
                </a:solidFill>
                <a:latin typeface="Source Serif Pro Bold"/>
                <a:ea typeface="Source Serif Pro Bold"/>
                <a:cs typeface="Source Serif Pro Bold"/>
                <a:sym typeface="Source Serif Pro Bold"/>
              </a:rPr>
              <a:t>Micro Economic Aspect</a:t>
            </a:r>
          </a:p>
        </p:txBody>
      </p:sp>
      <p:sp>
        <p:nvSpPr>
          <p:cNvPr name="TextBox 6" id="6"/>
          <p:cNvSpPr txBox="true"/>
          <p:nvPr/>
        </p:nvSpPr>
        <p:spPr>
          <a:xfrm rot="0">
            <a:off x="1028700" y="2211561"/>
            <a:ext cx="12229724" cy="7829550"/>
          </a:xfrm>
          <a:prstGeom prst="rect">
            <a:avLst/>
          </a:prstGeom>
        </p:spPr>
        <p:txBody>
          <a:bodyPr anchor="t" rtlCol="false" tIns="0" lIns="0" bIns="0" rIns="0">
            <a:spAutoFit/>
          </a:bodyPr>
          <a:lstStyle/>
          <a:p>
            <a:pPr algn="just">
              <a:lnSpc>
                <a:spcPts val="4199"/>
              </a:lnSpc>
            </a:pPr>
            <a:r>
              <a:rPr lang="en-US" sz="2999">
                <a:solidFill>
                  <a:srgbClr val="171717"/>
                </a:solidFill>
                <a:latin typeface="Source Serif Pro"/>
                <a:ea typeface="Source Serif Pro"/>
                <a:cs typeface="Source Serif Pro"/>
                <a:sym typeface="Source Serif Pro"/>
              </a:rPr>
              <a:t>1. Factors of Production</a:t>
            </a:r>
          </a:p>
          <a:p>
            <a:pPr algn="just">
              <a:lnSpc>
                <a:spcPts val="4199"/>
              </a:lnSpc>
            </a:pPr>
          </a:p>
          <a:p>
            <a:pPr algn="just" marL="647698" indent="-323849" lvl="1">
              <a:lnSpc>
                <a:spcPts val="4199"/>
              </a:lnSpc>
              <a:buFont typeface="Arial"/>
              <a:buChar char="•"/>
            </a:pPr>
            <a:r>
              <a:rPr lang="en-US" sz="2999">
                <a:solidFill>
                  <a:srgbClr val="171717"/>
                </a:solidFill>
                <a:latin typeface="Source Serif Pro"/>
                <a:ea typeface="Source Serif Pro"/>
                <a:cs typeface="Source Serif Pro"/>
                <a:sym typeface="Source Serif Pro"/>
              </a:rPr>
              <a:t>Land: The production unit is set up in Jodhpur, benefiting from affordable industrial land and government subsidies under the Startup Rajasthan policy.</a:t>
            </a:r>
          </a:p>
          <a:p>
            <a:pPr algn="just">
              <a:lnSpc>
                <a:spcPts val="4199"/>
              </a:lnSpc>
            </a:pPr>
          </a:p>
          <a:p>
            <a:pPr algn="just" marL="647698" indent="-323849" lvl="1">
              <a:lnSpc>
                <a:spcPts val="4199"/>
              </a:lnSpc>
              <a:buFont typeface="Arial"/>
              <a:buChar char="•"/>
            </a:pPr>
            <a:r>
              <a:rPr lang="en-US" sz="2999">
                <a:solidFill>
                  <a:srgbClr val="171717"/>
                </a:solidFill>
                <a:latin typeface="Source Serif Pro"/>
                <a:ea typeface="Source Serif Pro"/>
                <a:cs typeface="Source Serif Pro"/>
                <a:sym typeface="Source Serif Pro"/>
              </a:rPr>
              <a:t>Labour: Skilled artisans, carpenters, and semi-skilled workers are employed for manufacturing and finishing processes.</a:t>
            </a:r>
          </a:p>
          <a:p>
            <a:pPr algn="just">
              <a:lnSpc>
                <a:spcPts val="4199"/>
              </a:lnSpc>
            </a:pPr>
          </a:p>
          <a:p>
            <a:pPr algn="just" marL="647698" indent="-323849" lvl="1">
              <a:lnSpc>
                <a:spcPts val="4199"/>
              </a:lnSpc>
              <a:buFont typeface="Arial"/>
              <a:buChar char="•"/>
            </a:pPr>
            <a:r>
              <a:rPr lang="en-US" sz="2999">
                <a:solidFill>
                  <a:srgbClr val="171717"/>
                </a:solidFill>
                <a:latin typeface="Source Serif Pro"/>
                <a:ea typeface="Source Serif Pro"/>
                <a:cs typeface="Source Serif Pro"/>
                <a:sym typeface="Source Serif Pro"/>
              </a:rPr>
              <a:t>Capital: Initial investment is financed through startup funding and loans under the Mudra Yojana scheme.</a:t>
            </a:r>
          </a:p>
          <a:p>
            <a:pPr algn="just">
              <a:lnSpc>
                <a:spcPts val="4199"/>
              </a:lnSpc>
            </a:pPr>
          </a:p>
          <a:p>
            <a:pPr algn="just" marL="647698" indent="-323849" lvl="1">
              <a:lnSpc>
                <a:spcPts val="4199"/>
              </a:lnSpc>
              <a:buFont typeface="Arial"/>
              <a:buChar char="•"/>
            </a:pPr>
            <a:r>
              <a:rPr lang="en-US" sz="2999">
                <a:solidFill>
                  <a:srgbClr val="171717"/>
                </a:solidFill>
                <a:latin typeface="Source Serif Pro"/>
                <a:ea typeface="Source Serif Pro"/>
                <a:cs typeface="Source Serif Pro"/>
                <a:sym typeface="Source Serif Pro"/>
              </a:rPr>
              <a:t>Entrepreneurship: The founders combine design knowledge and business expertise to innovate in the modular furniture market.</a:t>
            </a:r>
          </a:p>
          <a:p>
            <a:pPr algn="just">
              <a:lnSpc>
                <a:spcPts val="419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2984692">
            <a:off x="3147834" y="4985699"/>
            <a:ext cx="2178187" cy="2186136"/>
          </a:xfrm>
          <a:custGeom>
            <a:avLst/>
            <a:gdLst/>
            <a:ahLst/>
            <a:cxnLst/>
            <a:rect r="r" b="b" t="t" l="l"/>
            <a:pathLst>
              <a:path h="2186136" w="2178187">
                <a:moveTo>
                  <a:pt x="0" y="0"/>
                </a:moveTo>
                <a:lnTo>
                  <a:pt x="2178186" y="0"/>
                </a:lnTo>
                <a:lnTo>
                  <a:pt x="2178186" y="2186136"/>
                </a:lnTo>
                <a:lnTo>
                  <a:pt x="0" y="2186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745092" y="5939193"/>
            <a:ext cx="5689095" cy="4228208"/>
          </a:xfrm>
          <a:custGeom>
            <a:avLst/>
            <a:gdLst/>
            <a:ahLst/>
            <a:cxnLst/>
            <a:rect r="r" b="b" t="t" l="l"/>
            <a:pathLst>
              <a:path h="4228208" w="5689095">
                <a:moveTo>
                  <a:pt x="5689095" y="0"/>
                </a:moveTo>
                <a:lnTo>
                  <a:pt x="0" y="0"/>
                </a:lnTo>
                <a:lnTo>
                  <a:pt x="0" y="4228208"/>
                </a:lnTo>
                <a:lnTo>
                  <a:pt x="5689095" y="4228208"/>
                </a:lnTo>
                <a:lnTo>
                  <a:pt x="568909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774893" y="583567"/>
            <a:ext cx="10744085" cy="1052192"/>
          </a:xfrm>
          <a:prstGeom prst="rect">
            <a:avLst/>
          </a:prstGeom>
        </p:spPr>
        <p:txBody>
          <a:bodyPr anchor="t" rtlCol="false" tIns="0" lIns="0" bIns="0" rIns="0">
            <a:spAutoFit/>
          </a:bodyPr>
          <a:lstStyle/>
          <a:p>
            <a:pPr algn="just" marL="0" indent="0" lvl="0">
              <a:lnSpc>
                <a:spcPts val="7839"/>
              </a:lnSpc>
            </a:pPr>
            <a:r>
              <a:rPr lang="en-US" b="true" sz="7999" spc="-519">
                <a:solidFill>
                  <a:srgbClr val="171717"/>
                </a:solidFill>
                <a:latin typeface="Source Serif Pro Bold"/>
                <a:ea typeface="Source Serif Pro Bold"/>
                <a:cs typeface="Source Serif Pro Bold"/>
                <a:sym typeface="Source Serif Pro Bold"/>
              </a:rPr>
              <a:t>Micro Economic Aspect</a:t>
            </a:r>
          </a:p>
        </p:txBody>
      </p:sp>
      <p:sp>
        <p:nvSpPr>
          <p:cNvPr name="TextBox 5" id="5"/>
          <p:cNvSpPr txBox="true"/>
          <p:nvPr/>
        </p:nvSpPr>
        <p:spPr>
          <a:xfrm rot="0">
            <a:off x="5774893" y="2255378"/>
            <a:ext cx="11776454" cy="6380909"/>
          </a:xfrm>
          <a:prstGeom prst="rect">
            <a:avLst/>
          </a:prstGeom>
        </p:spPr>
        <p:txBody>
          <a:bodyPr anchor="t" rtlCol="false" tIns="0" lIns="0" bIns="0" rIns="0">
            <a:spAutoFit/>
          </a:bodyPr>
          <a:lstStyle/>
          <a:p>
            <a:pPr algn="l">
              <a:lnSpc>
                <a:spcPts val="4246"/>
              </a:lnSpc>
            </a:pPr>
            <a:r>
              <a:rPr lang="en-US" sz="3033">
                <a:solidFill>
                  <a:srgbClr val="171717"/>
                </a:solidFill>
                <a:latin typeface="Source Serif Pro"/>
                <a:ea typeface="Source Serif Pro"/>
                <a:cs typeface="Source Serif Pro"/>
                <a:sym typeface="Source Serif Pro"/>
              </a:rPr>
              <a:t>2</a:t>
            </a:r>
            <a:r>
              <a:rPr lang="en-US" sz="3033">
                <a:solidFill>
                  <a:srgbClr val="171717"/>
                </a:solidFill>
                <a:latin typeface="Source Serif Pro"/>
                <a:ea typeface="Source Serif Pro"/>
                <a:cs typeface="Source Serif Pro"/>
                <a:sym typeface="Source Serif Pro"/>
              </a:rPr>
              <a:t>. Cost and Revenue Model</a:t>
            </a:r>
          </a:p>
          <a:p>
            <a:pPr algn="l">
              <a:lnSpc>
                <a:spcPts val="4246"/>
              </a:lnSpc>
            </a:pPr>
          </a:p>
          <a:p>
            <a:pPr algn="l">
              <a:lnSpc>
                <a:spcPts val="4246"/>
              </a:lnSpc>
            </a:pPr>
            <a:r>
              <a:rPr lang="en-US" sz="3033">
                <a:solidFill>
                  <a:srgbClr val="171717"/>
                </a:solidFill>
                <a:latin typeface="Source Serif Pro"/>
                <a:ea typeface="Source Serif Pro"/>
                <a:cs typeface="Source Serif Pro"/>
                <a:sym typeface="Source Serif Pro"/>
              </a:rPr>
              <a:t>The company operates o</a:t>
            </a:r>
            <a:r>
              <a:rPr lang="en-US" sz="3033">
                <a:solidFill>
                  <a:srgbClr val="171717"/>
                </a:solidFill>
                <a:latin typeface="Source Serif Pro"/>
                <a:ea typeface="Source Serif Pro"/>
                <a:cs typeface="Source Serif Pro"/>
                <a:sym typeface="Source Serif Pro"/>
              </a:rPr>
              <a:t>n a low-cost model by sourcing local materials and selling directly online, eliminating middlemen.</a:t>
            </a:r>
          </a:p>
          <a:p>
            <a:pPr algn="l">
              <a:lnSpc>
                <a:spcPts val="4246"/>
              </a:lnSpc>
            </a:pPr>
          </a:p>
          <a:p>
            <a:pPr algn="l">
              <a:lnSpc>
                <a:spcPts val="4246"/>
              </a:lnSpc>
            </a:pPr>
            <a:r>
              <a:rPr lang="en-US" sz="3033">
                <a:solidFill>
                  <a:srgbClr val="171717"/>
                </a:solidFill>
                <a:latin typeface="Source Serif Pro"/>
                <a:ea typeface="Source Serif Pro"/>
                <a:cs typeface="Source Serif Pro"/>
                <a:sym typeface="Source Serif Pro"/>
              </a:rPr>
              <a:t>Fixed Costs: Factory rent, equipment, software, and machinery.</a:t>
            </a:r>
          </a:p>
          <a:p>
            <a:pPr algn="l">
              <a:lnSpc>
                <a:spcPts val="4246"/>
              </a:lnSpc>
            </a:pPr>
          </a:p>
          <a:p>
            <a:pPr algn="l">
              <a:lnSpc>
                <a:spcPts val="4246"/>
              </a:lnSpc>
            </a:pPr>
            <a:r>
              <a:rPr lang="en-US" sz="3033">
                <a:solidFill>
                  <a:srgbClr val="171717"/>
                </a:solidFill>
                <a:latin typeface="Source Serif Pro"/>
                <a:ea typeface="Source Serif Pro"/>
                <a:cs typeface="Source Serif Pro"/>
                <a:sym typeface="Source Serif Pro"/>
              </a:rPr>
              <a:t>Variable C</a:t>
            </a:r>
            <a:r>
              <a:rPr lang="en-US" sz="3033">
                <a:solidFill>
                  <a:srgbClr val="171717"/>
                </a:solidFill>
                <a:latin typeface="Source Serif Pro"/>
                <a:ea typeface="Source Serif Pro"/>
                <a:cs typeface="Source Serif Pro"/>
                <a:sym typeface="Source Serif Pro"/>
              </a:rPr>
              <a:t>osts: Raw materials, labour wages, transportation, and packaging.</a:t>
            </a:r>
          </a:p>
          <a:p>
            <a:pPr algn="l">
              <a:lnSpc>
                <a:spcPts val="4246"/>
              </a:lnSpc>
            </a:pPr>
          </a:p>
          <a:p>
            <a:pPr algn="l">
              <a:lnSpc>
                <a:spcPts val="4246"/>
              </a:lnSpc>
            </a:pPr>
            <a:r>
              <a:rPr lang="en-US" sz="3033">
                <a:solidFill>
                  <a:srgbClr val="171717"/>
                </a:solidFill>
                <a:latin typeface="Source Serif Pro"/>
                <a:ea typeface="Source Serif Pro"/>
                <a:cs typeface="Source Serif Pro"/>
                <a:sym typeface="Source Serif Pro"/>
              </a:rPr>
              <a:t>Revenue: Generated from online sales, custom design orders, and bulk sales to corporate offices.</a:t>
            </a:r>
          </a:p>
        </p:txBody>
      </p:sp>
      <p:sp>
        <p:nvSpPr>
          <p:cNvPr name="Freeform 6" id="6"/>
          <p:cNvSpPr/>
          <p:nvPr/>
        </p:nvSpPr>
        <p:spPr>
          <a:xfrm flipH="false" flipV="false" rot="2984692">
            <a:off x="-527603" y="3308625"/>
            <a:ext cx="2178187" cy="2186136"/>
          </a:xfrm>
          <a:custGeom>
            <a:avLst/>
            <a:gdLst/>
            <a:ahLst/>
            <a:cxnLst/>
            <a:rect r="r" b="b" t="t" l="l"/>
            <a:pathLst>
              <a:path h="2186136" w="2178187">
                <a:moveTo>
                  <a:pt x="0" y="0"/>
                </a:moveTo>
                <a:lnTo>
                  <a:pt x="2178186" y="0"/>
                </a:lnTo>
                <a:lnTo>
                  <a:pt x="2178186" y="2186136"/>
                </a:lnTo>
                <a:lnTo>
                  <a:pt x="0" y="21861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0">
            <a:off x="13943023" y="1030933"/>
            <a:ext cx="4593782" cy="3566445"/>
          </a:xfrm>
          <a:custGeom>
            <a:avLst/>
            <a:gdLst/>
            <a:ahLst/>
            <a:cxnLst/>
            <a:rect r="r" b="b" t="t" l="l"/>
            <a:pathLst>
              <a:path h="3566445" w="4593782">
                <a:moveTo>
                  <a:pt x="0" y="0"/>
                </a:moveTo>
                <a:lnTo>
                  <a:pt x="4593782" y="0"/>
                </a:lnTo>
                <a:lnTo>
                  <a:pt x="4593782" y="3566445"/>
                </a:lnTo>
                <a:lnTo>
                  <a:pt x="0" y="35664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477473">
            <a:off x="15228937" y="6288825"/>
            <a:ext cx="5543315" cy="4776772"/>
          </a:xfrm>
          <a:custGeom>
            <a:avLst/>
            <a:gdLst/>
            <a:ahLst/>
            <a:cxnLst/>
            <a:rect r="r" b="b" t="t" l="l"/>
            <a:pathLst>
              <a:path h="4776772" w="5543315">
                <a:moveTo>
                  <a:pt x="5543315" y="0"/>
                </a:moveTo>
                <a:lnTo>
                  <a:pt x="0" y="0"/>
                </a:lnTo>
                <a:lnTo>
                  <a:pt x="0" y="4776772"/>
                </a:lnTo>
                <a:lnTo>
                  <a:pt x="5543315" y="4776772"/>
                </a:lnTo>
                <a:lnTo>
                  <a:pt x="55433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43089" y="654373"/>
            <a:ext cx="7348351" cy="981720"/>
          </a:xfrm>
          <a:prstGeom prst="rect">
            <a:avLst/>
          </a:prstGeom>
        </p:spPr>
        <p:txBody>
          <a:bodyPr anchor="t" rtlCol="false" tIns="0" lIns="0" bIns="0" rIns="0">
            <a:spAutoFit/>
          </a:bodyPr>
          <a:lstStyle/>
          <a:p>
            <a:pPr algn="l">
              <a:lnSpc>
                <a:spcPts val="7120"/>
              </a:lnSpc>
            </a:pPr>
            <a:r>
              <a:rPr lang="en-US" sz="8000" spc="-520" b="true">
                <a:solidFill>
                  <a:srgbClr val="111111"/>
                </a:solidFill>
                <a:latin typeface="Source Serif Pro Bold"/>
                <a:ea typeface="Source Serif Pro Bold"/>
                <a:cs typeface="Source Serif Pro Bold"/>
                <a:sym typeface="Source Serif Pro Bold"/>
              </a:rPr>
              <a:t>Prici</a:t>
            </a:r>
            <a:r>
              <a:rPr lang="en-US" sz="8000" spc="-520" b="true">
                <a:solidFill>
                  <a:srgbClr val="111111"/>
                </a:solidFill>
                <a:latin typeface="Source Serif Pro Bold"/>
                <a:ea typeface="Source Serif Pro Bold"/>
                <a:cs typeface="Source Serif Pro Bold"/>
                <a:sym typeface="Source Serif Pro Bold"/>
              </a:rPr>
              <a:t>ng Strategy</a:t>
            </a:r>
          </a:p>
        </p:txBody>
      </p:sp>
      <p:sp>
        <p:nvSpPr>
          <p:cNvPr name="TextBox 5" id="5"/>
          <p:cNvSpPr txBox="true"/>
          <p:nvPr/>
        </p:nvSpPr>
        <p:spPr>
          <a:xfrm rot="0">
            <a:off x="543089" y="2025356"/>
            <a:ext cx="12507365" cy="7405164"/>
          </a:xfrm>
          <a:prstGeom prst="rect">
            <a:avLst/>
          </a:prstGeom>
        </p:spPr>
        <p:txBody>
          <a:bodyPr anchor="t" rtlCol="false" tIns="0" lIns="0" bIns="0" rIns="0">
            <a:spAutoFit/>
          </a:bodyPr>
          <a:lstStyle/>
          <a:p>
            <a:pPr algn="l">
              <a:lnSpc>
                <a:spcPts val="3966"/>
              </a:lnSpc>
            </a:pPr>
            <a:r>
              <a:rPr lang="en-US" sz="2833" b="true">
                <a:solidFill>
                  <a:srgbClr val="171717"/>
                </a:solidFill>
                <a:latin typeface="Source Serif Pro Bold"/>
                <a:ea typeface="Source Serif Pro Bold"/>
                <a:cs typeface="Source Serif Pro Bold"/>
                <a:sym typeface="Source Serif Pro Bold"/>
              </a:rPr>
              <a:t>Value-Based Pricing</a:t>
            </a:r>
          </a:p>
          <a:p>
            <a:pPr algn="l">
              <a:lnSpc>
                <a:spcPts val="3966"/>
              </a:lnSpc>
            </a:pPr>
            <a:r>
              <a:rPr lang="en-US" sz="2833">
                <a:solidFill>
                  <a:srgbClr val="171717"/>
                </a:solidFill>
                <a:latin typeface="Source Serif Pro"/>
                <a:ea typeface="Source Serif Pro"/>
                <a:cs typeface="Source Serif Pro"/>
                <a:sym typeface="Source Serif Pro"/>
              </a:rPr>
              <a:t>Price is set based on the value perceived by customers (design, space-saving, eco-friendly), not just production cost. Helps justify slightly premium pricing vs. local carpenters.</a:t>
            </a:r>
          </a:p>
          <a:p>
            <a:pPr algn="l">
              <a:lnSpc>
                <a:spcPts val="3966"/>
              </a:lnSpc>
            </a:pPr>
          </a:p>
          <a:p>
            <a:pPr algn="l">
              <a:lnSpc>
                <a:spcPts val="3966"/>
              </a:lnSpc>
            </a:pPr>
            <a:r>
              <a:rPr lang="en-US" sz="2833" b="true">
                <a:solidFill>
                  <a:srgbClr val="171717"/>
                </a:solidFill>
                <a:latin typeface="Source Serif Pro Bold"/>
                <a:ea typeface="Source Serif Pro Bold"/>
                <a:cs typeface="Source Serif Pro Bold"/>
                <a:sym typeface="Source Serif Pro Bold"/>
              </a:rPr>
              <a:t>Competitive Pricing</a:t>
            </a:r>
          </a:p>
          <a:p>
            <a:pPr algn="l">
              <a:lnSpc>
                <a:spcPts val="3966"/>
              </a:lnSpc>
            </a:pPr>
            <a:r>
              <a:rPr lang="en-US" sz="2833">
                <a:solidFill>
                  <a:srgbClr val="171717"/>
                </a:solidFill>
                <a:latin typeface="Source Serif Pro"/>
                <a:ea typeface="Source Serif Pro"/>
                <a:cs typeface="Source Serif Pro"/>
                <a:sym typeface="Source Serif Pro"/>
              </a:rPr>
              <a:t>Price products close to or slightly below competitors (IKEA, WoodenStreet) to attract price-sensitive Indian customers. Helps gain market share quickly.</a:t>
            </a:r>
          </a:p>
          <a:p>
            <a:pPr algn="l">
              <a:lnSpc>
                <a:spcPts val="3966"/>
              </a:lnSpc>
            </a:pPr>
          </a:p>
          <a:p>
            <a:pPr algn="l">
              <a:lnSpc>
                <a:spcPts val="3966"/>
              </a:lnSpc>
            </a:pPr>
            <a:r>
              <a:rPr lang="en-US" sz="2833" b="true">
                <a:solidFill>
                  <a:srgbClr val="171717"/>
                </a:solidFill>
                <a:latin typeface="Source Serif Pro Bold"/>
                <a:ea typeface="Source Serif Pro Bold"/>
                <a:cs typeface="Source Serif Pro Bold"/>
                <a:sym typeface="Source Serif Pro Bold"/>
              </a:rPr>
              <a:t>Bundled Pricing</a:t>
            </a:r>
          </a:p>
          <a:p>
            <a:pPr algn="l">
              <a:lnSpc>
                <a:spcPts val="3966"/>
              </a:lnSpc>
            </a:pPr>
            <a:r>
              <a:rPr lang="en-US" sz="2833">
                <a:solidFill>
                  <a:srgbClr val="171717"/>
                </a:solidFill>
                <a:latin typeface="Source Serif Pro"/>
                <a:ea typeface="Source Serif Pro"/>
                <a:cs typeface="Source Serif Pro"/>
                <a:sym typeface="Source Serif Pro"/>
              </a:rPr>
              <a:t>Offer sets like organiser + drawer unit or 2+1 combos at a discounted price. Encourages larger purchases and increases average order value.</a:t>
            </a:r>
          </a:p>
          <a:p>
            <a:pPr algn="l">
              <a:lnSpc>
                <a:spcPts val="3966"/>
              </a:lnSpc>
            </a:pPr>
          </a:p>
          <a:p>
            <a:pPr algn="l">
              <a:lnSpc>
                <a:spcPts val="3966"/>
              </a:lnSpc>
            </a:pPr>
            <a:r>
              <a:rPr lang="en-US" sz="2833" b="true">
                <a:solidFill>
                  <a:srgbClr val="171717"/>
                </a:solidFill>
                <a:latin typeface="Source Serif Pro Bold"/>
                <a:ea typeface="Source Serif Pro Bold"/>
                <a:cs typeface="Source Serif Pro Bold"/>
                <a:sym typeface="Source Serif Pro Bold"/>
              </a:rPr>
              <a:t>Seasonal Pricing</a:t>
            </a:r>
          </a:p>
          <a:p>
            <a:pPr algn="l">
              <a:lnSpc>
                <a:spcPts val="3966"/>
              </a:lnSpc>
            </a:pPr>
            <a:r>
              <a:rPr lang="en-US" sz="2833">
                <a:solidFill>
                  <a:srgbClr val="171717"/>
                </a:solidFill>
                <a:latin typeface="Source Serif Pro"/>
                <a:ea typeface="Source Serif Pro"/>
                <a:cs typeface="Source Serif Pro"/>
                <a:sym typeface="Source Serif Pro"/>
              </a:rPr>
              <a:t>Offer discounts during peak sales seasons like: Diwali, Republic Day, etc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547799"/>
          <a:ext cx="13045551" cy="8431061"/>
        </p:xfrm>
        <a:graphic>
          <a:graphicData uri="http://schemas.openxmlformats.org/drawingml/2006/table">
            <a:tbl>
              <a:tblPr/>
              <a:tblGrid>
                <a:gridCol w="2609110"/>
                <a:gridCol w="2609110"/>
                <a:gridCol w="2609110"/>
                <a:gridCol w="2609110"/>
                <a:gridCol w="2609110"/>
              </a:tblGrid>
              <a:tr h="1760556">
                <a:tc>
                  <a:txBody>
                    <a:bodyPr anchor="t" rtlCol="false"/>
                    <a:lstStyle/>
                    <a:p>
                      <a:pPr algn="l">
                        <a:lnSpc>
                          <a:spcPts val="3499"/>
                        </a:lnSpc>
                        <a:defRPr/>
                      </a:pPr>
                      <a:r>
                        <a:rPr lang="en-US" sz="2499">
                          <a:solidFill>
                            <a:srgbClr val="000000"/>
                          </a:solidFill>
                          <a:latin typeface="Source Serif Pro"/>
                          <a:ea typeface="Source Serif Pro"/>
                          <a:cs typeface="Source Serif Pro"/>
                          <a:sym typeface="Source Serif Pro"/>
                        </a:rPr>
                        <a:t>Product</a:t>
                      </a:r>
                      <a:endParaRPr lang="en-US" sz="1100"/>
                    </a:p>
                    <a:p>
                      <a:pPr algn="l">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Price Range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Type of Product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Price Elasticity of Demand (Hypothetical)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Elasticity Category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00695">
                <a:tc>
                  <a:txBody>
                    <a:bodyPr anchor="t" rtlCol="false"/>
                    <a:lstStyle/>
                    <a:p>
                      <a:pPr algn="l">
                        <a:lnSpc>
                          <a:spcPts val="3499"/>
                        </a:lnSpc>
                        <a:defRPr/>
                      </a:pPr>
                      <a:r>
                        <a:rPr lang="en-US" sz="2499">
                          <a:solidFill>
                            <a:srgbClr val="000000"/>
                          </a:solidFill>
                          <a:latin typeface="Source Serif Pro"/>
                          <a:ea typeface="Source Serif Pro"/>
                          <a:cs typeface="Source Serif Pro"/>
                          <a:sym typeface="Source Serif Pro"/>
                        </a:rPr>
                        <a:t>Foldable Multipurpose Study Table (Flagship)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₹4,500 – ₹7,000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Semi-essential, multifunctional furniture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–1.4 to –1.8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endParaRPr lang="en-US" sz="1100"/>
                    </a:p>
                    <a:p>
                      <a:pPr algn="ctr">
                        <a:lnSpc>
                          <a:spcPts val="3499"/>
                        </a:lnSpc>
                      </a:pPr>
                      <a:r>
                        <a:rPr lang="en-US" sz="2499">
                          <a:solidFill>
                            <a:srgbClr val="000000"/>
                          </a:solidFill>
                          <a:latin typeface="Source Serif Pro"/>
                          <a:ea typeface="Source Serif Pro"/>
                          <a:cs typeface="Source Serif Pro"/>
                          <a:sym typeface="Source Serif Pro"/>
                        </a:rPr>
                        <a:t>Elastic</a:t>
                      </a:r>
                    </a:p>
                    <a:p>
                      <a:pPr algn="ctr">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4627">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Wall-Mounted Shelving Units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₹2,500 – ₹6,000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Decorative + functional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–1.6 to –2.0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Highly Elastic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4627">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Foldable Office Workstation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₹8,000 – ₹12,000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Premium WFH product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0.8 to –1.1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Unitary to Slightly Elastic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60556">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Modular Shoe &amp; Wardrobe Organisers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₹3,000 – ₹9,000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Functional, space-saving essential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–1.0 to –1.3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Source Serif Pro"/>
                          <a:ea typeface="Source Serif Pro"/>
                          <a:cs typeface="Source Serif Pro"/>
                          <a:sym typeface="Source Serif Pro"/>
                        </a:rPr>
                        <a:t>Moderately Elastic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028700" y="471501"/>
            <a:ext cx="12707092" cy="1076299"/>
          </a:xfrm>
          <a:prstGeom prst="rect">
            <a:avLst/>
          </a:prstGeom>
        </p:spPr>
        <p:txBody>
          <a:bodyPr anchor="t" rtlCol="false" tIns="0" lIns="0" bIns="0" rIns="0">
            <a:spAutoFit/>
          </a:bodyPr>
          <a:lstStyle/>
          <a:p>
            <a:pPr algn="l">
              <a:lnSpc>
                <a:spcPts val="6641"/>
              </a:lnSpc>
            </a:pPr>
            <a:r>
              <a:rPr lang="en-US" sz="6846" spc="-445" b="true">
                <a:solidFill>
                  <a:srgbClr val="171717"/>
                </a:solidFill>
                <a:latin typeface="Agrandir Bold"/>
                <a:ea typeface="Agrandir Bold"/>
                <a:cs typeface="Agrandir Bold"/>
                <a:sym typeface="Agrandir Bold"/>
              </a:rPr>
              <a:t>Price Elasticity of Demand  Table</a:t>
            </a:r>
          </a:p>
        </p:txBody>
      </p:sp>
      <p:sp>
        <p:nvSpPr>
          <p:cNvPr name="Freeform 4" id="4"/>
          <p:cNvSpPr/>
          <p:nvPr/>
        </p:nvSpPr>
        <p:spPr>
          <a:xfrm flipH="false" flipV="false" rot="0">
            <a:off x="15580178" y="7233232"/>
            <a:ext cx="3199356" cy="2745629"/>
          </a:xfrm>
          <a:custGeom>
            <a:avLst/>
            <a:gdLst/>
            <a:ahLst/>
            <a:cxnLst/>
            <a:rect r="r" b="b" t="t" l="l"/>
            <a:pathLst>
              <a:path h="2745629" w="3199356">
                <a:moveTo>
                  <a:pt x="0" y="0"/>
                </a:moveTo>
                <a:lnTo>
                  <a:pt x="3199356" y="0"/>
                </a:lnTo>
                <a:lnTo>
                  <a:pt x="3199356" y="2745628"/>
                </a:lnTo>
                <a:lnTo>
                  <a:pt x="0" y="27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107815" y="4554538"/>
            <a:ext cx="1679122" cy="2417584"/>
          </a:xfrm>
          <a:custGeom>
            <a:avLst/>
            <a:gdLst/>
            <a:ahLst/>
            <a:cxnLst/>
            <a:rect r="r" b="b" t="t" l="l"/>
            <a:pathLst>
              <a:path h="2417584" w="1679122">
                <a:moveTo>
                  <a:pt x="0" y="0"/>
                </a:moveTo>
                <a:lnTo>
                  <a:pt x="1679122" y="0"/>
                </a:lnTo>
                <a:lnTo>
                  <a:pt x="1679122" y="2417584"/>
                </a:lnTo>
                <a:lnTo>
                  <a:pt x="0" y="24175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947376" y="2067581"/>
            <a:ext cx="2392000" cy="2486957"/>
          </a:xfrm>
          <a:custGeom>
            <a:avLst/>
            <a:gdLst/>
            <a:ahLst/>
            <a:cxnLst/>
            <a:rect r="r" b="b" t="t" l="l"/>
            <a:pathLst>
              <a:path h="2486957" w="2392000">
                <a:moveTo>
                  <a:pt x="0" y="0"/>
                </a:moveTo>
                <a:lnTo>
                  <a:pt x="2392001" y="0"/>
                </a:lnTo>
                <a:lnTo>
                  <a:pt x="2392001" y="2486957"/>
                </a:lnTo>
                <a:lnTo>
                  <a:pt x="0" y="24869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0">
            <a:off x="16326076" y="4576922"/>
            <a:ext cx="2637713" cy="1723904"/>
          </a:xfrm>
          <a:custGeom>
            <a:avLst/>
            <a:gdLst/>
            <a:ahLst/>
            <a:cxnLst/>
            <a:rect r="r" b="b" t="t" l="l"/>
            <a:pathLst>
              <a:path h="1723904" w="2637713">
                <a:moveTo>
                  <a:pt x="0" y="0"/>
                </a:moveTo>
                <a:lnTo>
                  <a:pt x="2637713" y="0"/>
                </a:lnTo>
                <a:lnTo>
                  <a:pt x="2637713" y="1723904"/>
                </a:lnTo>
                <a:lnTo>
                  <a:pt x="0" y="17239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159303" y="6553233"/>
            <a:ext cx="2971259" cy="1906146"/>
          </a:xfrm>
          <a:custGeom>
            <a:avLst/>
            <a:gdLst/>
            <a:ahLst/>
            <a:cxnLst/>
            <a:rect r="r" b="b" t="t" l="l"/>
            <a:pathLst>
              <a:path h="1906146" w="2971259">
                <a:moveTo>
                  <a:pt x="0" y="0"/>
                </a:moveTo>
                <a:lnTo>
                  <a:pt x="2971260" y="0"/>
                </a:lnTo>
                <a:lnTo>
                  <a:pt x="2971260" y="1906146"/>
                </a:lnTo>
                <a:lnTo>
                  <a:pt x="0" y="1906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34685" y="1816101"/>
            <a:ext cx="7167635" cy="2613025"/>
          </a:xfrm>
          <a:prstGeom prst="rect">
            <a:avLst/>
          </a:prstGeom>
        </p:spPr>
        <p:txBody>
          <a:bodyPr anchor="t" rtlCol="false" tIns="0" lIns="0" bIns="0" rIns="0">
            <a:spAutoFit/>
          </a:bodyPr>
          <a:lstStyle/>
          <a:p>
            <a:pPr algn="l">
              <a:lnSpc>
                <a:spcPts val="3499"/>
              </a:lnSpc>
            </a:pPr>
            <a:r>
              <a:rPr lang="en-US" sz="2499">
                <a:solidFill>
                  <a:srgbClr val="000000"/>
                </a:solidFill>
                <a:latin typeface="Source Serif Pro"/>
                <a:ea typeface="Source Serif Pro"/>
                <a:cs typeface="Source Serif Pro"/>
                <a:sym typeface="Source Serif Pro"/>
              </a:rPr>
              <a:t>Strengths</a:t>
            </a:r>
          </a:p>
          <a:p>
            <a:pPr algn="l" marL="539749" indent="-269875" lvl="1">
              <a:lnSpc>
                <a:spcPts val="3499"/>
              </a:lnSpc>
              <a:buFont typeface="Arial"/>
              <a:buChar char="•"/>
            </a:pPr>
            <a:r>
              <a:rPr lang="en-US" sz="2499">
                <a:solidFill>
                  <a:srgbClr val="000000"/>
                </a:solidFill>
                <a:latin typeface="Source Serif Pro"/>
                <a:ea typeface="Source Serif Pro"/>
                <a:cs typeface="Source Serif Pro"/>
                <a:sym typeface="Source Serif Pro"/>
              </a:rPr>
              <a:t>Design-driven modular products for compact homes</a:t>
            </a:r>
          </a:p>
          <a:p>
            <a:pPr algn="l" marL="539749" indent="-269875" lvl="1">
              <a:lnSpc>
                <a:spcPts val="3499"/>
              </a:lnSpc>
              <a:buFont typeface="Arial"/>
              <a:buChar char="•"/>
            </a:pPr>
            <a:r>
              <a:rPr lang="en-US" sz="2499">
                <a:solidFill>
                  <a:srgbClr val="000000"/>
                </a:solidFill>
                <a:latin typeface="Source Serif Pro"/>
                <a:ea typeface="Source Serif Pro"/>
                <a:cs typeface="Source Serif Pro"/>
                <a:sym typeface="Source Serif Pro"/>
              </a:rPr>
              <a:t>Eco-friendly materials enhance brand value</a:t>
            </a:r>
          </a:p>
          <a:p>
            <a:pPr algn="l" marL="539749" indent="-269875" lvl="1">
              <a:lnSpc>
                <a:spcPts val="3499"/>
              </a:lnSpc>
              <a:buFont typeface="Arial"/>
              <a:buChar char="•"/>
            </a:pPr>
            <a:r>
              <a:rPr lang="en-US" sz="2499">
                <a:solidFill>
                  <a:srgbClr val="000000"/>
                </a:solidFill>
                <a:latin typeface="Source Serif Pro"/>
                <a:ea typeface="Source Serif Pro"/>
                <a:cs typeface="Source Serif Pro"/>
                <a:sym typeface="Source Serif Pro"/>
              </a:rPr>
              <a:t>Cost advantage due to Jodhpur’s artisan ecosystem</a:t>
            </a:r>
          </a:p>
        </p:txBody>
      </p:sp>
      <p:sp>
        <p:nvSpPr>
          <p:cNvPr name="TextBox 5" id="5"/>
          <p:cNvSpPr txBox="true"/>
          <p:nvPr/>
        </p:nvSpPr>
        <p:spPr>
          <a:xfrm rot="0">
            <a:off x="8554501" y="1816101"/>
            <a:ext cx="7075574" cy="2174875"/>
          </a:xfrm>
          <a:prstGeom prst="rect">
            <a:avLst/>
          </a:prstGeom>
        </p:spPr>
        <p:txBody>
          <a:bodyPr anchor="t" rtlCol="false" tIns="0" lIns="0" bIns="0" rIns="0">
            <a:spAutoFit/>
          </a:bodyPr>
          <a:lstStyle/>
          <a:p>
            <a:pPr algn="l">
              <a:lnSpc>
                <a:spcPts val="3499"/>
              </a:lnSpc>
            </a:pPr>
            <a:r>
              <a:rPr lang="en-US" sz="2499">
                <a:solidFill>
                  <a:srgbClr val="000000"/>
                </a:solidFill>
                <a:latin typeface="Source Serif Pro"/>
                <a:ea typeface="Source Serif Pro"/>
                <a:cs typeface="Source Serif Pro"/>
                <a:sym typeface="Source Serif Pro"/>
              </a:rPr>
              <a:t>Weakness</a:t>
            </a:r>
          </a:p>
          <a:p>
            <a:pPr algn="l" marL="539749" indent="-269875" lvl="1">
              <a:lnSpc>
                <a:spcPts val="3499"/>
              </a:lnSpc>
              <a:buFont typeface="Arial"/>
              <a:buChar char="•"/>
            </a:pPr>
            <a:r>
              <a:rPr lang="en-US" sz="2499">
                <a:solidFill>
                  <a:srgbClr val="000000"/>
                </a:solidFill>
                <a:latin typeface="Source Serif Pro"/>
                <a:ea typeface="Source Serif Pro"/>
                <a:cs typeface="Source Serif Pro"/>
                <a:sym typeface="Source Serif Pro"/>
              </a:rPr>
              <a:t>Limited brand visibility vs IKEA/Godrej</a:t>
            </a:r>
          </a:p>
          <a:p>
            <a:pPr algn="l" marL="539749" indent="-269875" lvl="1">
              <a:lnSpc>
                <a:spcPts val="3499"/>
              </a:lnSpc>
              <a:buFont typeface="Arial"/>
              <a:buChar char="•"/>
            </a:pPr>
            <a:r>
              <a:rPr lang="en-US" sz="2499">
                <a:solidFill>
                  <a:srgbClr val="000000"/>
                </a:solidFill>
                <a:latin typeface="Source Serif Pro"/>
                <a:ea typeface="Source Serif Pro"/>
                <a:cs typeface="Source Serif Pro"/>
                <a:sym typeface="Source Serif Pro"/>
              </a:rPr>
              <a:t>Smaller scale restricts automation and expansion</a:t>
            </a:r>
          </a:p>
          <a:p>
            <a:pPr algn="l" marL="539749" indent="-269875" lvl="1">
              <a:lnSpc>
                <a:spcPts val="3499"/>
              </a:lnSpc>
              <a:buFont typeface="Arial"/>
              <a:buChar char="•"/>
            </a:pPr>
            <a:r>
              <a:rPr lang="en-US" sz="2499">
                <a:solidFill>
                  <a:srgbClr val="000000"/>
                </a:solidFill>
                <a:latin typeface="Source Serif Pro"/>
                <a:ea typeface="Source Serif Pro"/>
                <a:cs typeface="Source Serif Pro"/>
                <a:sym typeface="Source Serif Pro"/>
              </a:rPr>
              <a:t>Heavy dependence on skilled manual labour</a:t>
            </a:r>
          </a:p>
        </p:txBody>
      </p:sp>
      <p:sp>
        <p:nvSpPr>
          <p:cNvPr name="TextBox 6" id="6"/>
          <p:cNvSpPr txBox="true"/>
          <p:nvPr/>
        </p:nvSpPr>
        <p:spPr>
          <a:xfrm rot="0">
            <a:off x="434685" y="5260407"/>
            <a:ext cx="7167635" cy="3050915"/>
          </a:xfrm>
          <a:prstGeom prst="rect">
            <a:avLst/>
          </a:prstGeom>
        </p:spPr>
        <p:txBody>
          <a:bodyPr anchor="t" rtlCol="false" tIns="0" lIns="0" bIns="0" rIns="0">
            <a:spAutoFit/>
          </a:bodyPr>
          <a:lstStyle/>
          <a:p>
            <a:pPr algn="l">
              <a:lnSpc>
                <a:spcPts val="3499"/>
              </a:lnSpc>
            </a:pPr>
            <a:r>
              <a:rPr lang="en-US" sz="2499">
                <a:solidFill>
                  <a:srgbClr val="000000"/>
                </a:solidFill>
                <a:latin typeface="Source Serif Pro"/>
                <a:ea typeface="Source Serif Pro"/>
                <a:cs typeface="Source Serif Pro"/>
                <a:sym typeface="Source Serif Pro"/>
              </a:rPr>
              <a:t>Opportunities</a:t>
            </a:r>
          </a:p>
          <a:p>
            <a:pPr algn="l" marL="539746" indent="-269873" lvl="1">
              <a:lnSpc>
                <a:spcPts val="3499"/>
              </a:lnSpc>
              <a:buFont typeface="Arial"/>
              <a:buChar char="•"/>
            </a:pPr>
            <a:r>
              <a:rPr lang="en-US" sz="2499">
                <a:solidFill>
                  <a:srgbClr val="000000"/>
                </a:solidFill>
                <a:latin typeface="Source Serif Pro"/>
                <a:ea typeface="Source Serif Pro"/>
                <a:cs typeface="Source Serif Pro"/>
                <a:sym typeface="Source Serif Pro"/>
              </a:rPr>
              <a:t>Growing demand for space saving organisers in urban India</a:t>
            </a:r>
          </a:p>
          <a:p>
            <a:pPr algn="l" marL="539746" indent="-269873" lvl="1">
              <a:lnSpc>
                <a:spcPts val="3499"/>
              </a:lnSpc>
              <a:buFont typeface="Arial"/>
              <a:buChar char="•"/>
            </a:pPr>
            <a:r>
              <a:rPr lang="en-US" sz="2499">
                <a:solidFill>
                  <a:srgbClr val="000000"/>
                </a:solidFill>
                <a:latin typeface="Source Serif Pro"/>
                <a:ea typeface="Source Serif Pro"/>
                <a:cs typeface="Source Serif Pro"/>
                <a:sym typeface="Source Serif Pro"/>
              </a:rPr>
              <a:t>Rising preference for sustainable home products</a:t>
            </a:r>
          </a:p>
          <a:p>
            <a:pPr algn="l" marL="539746" indent="-269873" lvl="1">
              <a:lnSpc>
                <a:spcPts val="3499"/>
              </a:lnSpc>
              <a:buFont typeface="Arial"/>
              <a:buChar char="•"/>
            </a:pPr>
            <a:r>
              <a:rPr lang="en-US" sz="2499">
                <a:solidFill>
                  <a:srgbClr val="000000"/>
                </a:solidFill>
                <a:latin typeface="Source Serif Pro"/>
                <a:ea typeface="Source Serif Pro"/>
                <a:cs typeface="Source Serif Pro"/>
                <a:sym typeface="Source Serif Pro"/>
              </a:rPr>
              <a:t>Potential to expand via e-commerce, offline stores </a:t>
            </a:r>
          </a:p>
        </p:txBody>
      </p:sp>
      <p:sp>
        <p:nvSpPr>
          <p:cNvPr name="TextBox 7" id="7"/>
          <p:cNvSpPr txBox="true"/>
          <p:nvPr/>
        </p:nvSpPr>
        <p:spPr>
          <a:xfrm rot="0">
            <a:off x="8554501" y="5391249"/>
            <a:ext cx="7075574" cy="2613025"/>
          </a:xfrm>
          <a:prstGeom prst="rect">
            <a:avLst/>
          </a:prstGeom>
        </p:spPr>
        <p:txBody>
          <a:bodyPr anchor="t" rtlCol="false" tIns="0" lIns="0" bIns="0" rIns="0">
            <a:spAutoFit/>
          </a:bodyPr>
          <a:lstStyle/>
          <a:p>
            <a:pPr algn="l">
              <a:lnSpc>
                <a:spcPts val="3499"/>
              </a:lnSpc>
            </a:pPr>
            <a:r>
              <a:rPr lang="en-US" sz="2499">
                <a:solidFill>
                  <a:srgbClr val="000000"/>
                </a:solidFill>
                <a:latin typeface="Source Serif Pro"/>
                <a:ea typeface="Source Serif Pro"/>
                <a:cs typeface="Source Serif Pro"/>
                <a:sym typeface="Source Serif Pro"/>
              </a:rPr>
              <a:t>Threats</a:t>
            </a:r>
          </a:p>
          <a:p>
            <a:pPr algn="l" marL="539746" indent="-269873" lvl="1">
              <a:lnSpc>
                <a:spcPts val="3499"/>
              </a:lnSpc>
              <a:buFont typeface="Arial"/>
              <a:buChar char="•"/>
            </a:pPr>
            <a:r>
              <a:rPr lang="en-US" sz="2499">
                <a:solidFill>
                  <a:srgbClr val="000000"/>
                </a:solidFill>
                <a:latin typeface="Source Serif Pro"/>
                <a:ea typeface="Source Serif Pro"/>
                <a:cs typeface="Source Serif Pro"/>
                <a:sym typeface="Source Serif Pro"/>
              </a:rPr>
              <a:t>Strong competition from large furniture brands </a:t>
            </a:r>
          </a:p>
          <a:p>
            <a:pPr algn="l" marL="539746" indent="-269873" lvl="1">
              <a:lnSpc>
                <a:spcPts val="3499"/>
              </a:lnSpc>
              <a:buFont typeface="Arial"/>
              <a:buChar char="•"/>
            </a:pPr>
            <a:r>
              <a:rPr lang="en-US" sz="2499">
                <a:solidFill>
                  <a:srgbClr val="000000"/>
                </a:solidFill>
                <a:latin typeface="Source Serif Pro"/>
                <a:ea typeface="Source Serif Pro"/>
                <a:cs typeface="Source Serif Pro"/>
                <a:sym typeface="Source Serif Pro"/>
              </a:rPr>
              <a:t>Price-sensitive consumers shifting to cheaper alternatives</a:t>
            </a:r>
          </a:p>
          <a:p>
            <a:pPr algn="l" marL="539746" indent="-269873" lvl="1">
              <a:lnSpc>
                <a:spcPts val="3499"/>
              </a:lnSpc>
              <a:buFont typeface="Arial"/>
              <a:buChar char="•"/>
            </a:pPr>
            <a:r>
              <a:rPr lang="en-US" sz="2499">
                <a:solidFill>
                  <a:srgbClr val="000000"/>
                </a:solidFill>
                <a:latin typeface="Source Serif Pro"/>
                <a:ea typeface="Source Serif Pro"/>
                <a:cs typeface="Source Serif Pro"/>
                <a:sym typeface="Source Serif Pro"/>
              </a:rPr>
              <a:t>Raw material and logistics cost fluctuations</a:t>
            </a:r>
          </a:p>
        </p:txBody>
      </p:sp>
      <p:sp>
        <p:nvSpPr>
          <p:cNvPr name="TextBox 8" id="8"/>
          <p:cNvSpPr txBox="true"/>
          <p:nvPr/>
        </p:nvSpPr>
        <p:spPr>
          <a:xfrm rot="0">
            <a:off x="7133256" y="555624"/>
            <a:ext cx="4021489" cy="1308101"/>
          </a:xfrm>
          <a:prstGeom prst="rect">
            <a:avLst/>
          </a:prstGeom>
        </p:spPr>
        <p:txBody>
          <a:bodyPr anchor="t" rtlCol="false" tIns="0" lIns="0" bIns="0" rIns="0">
            <a:spAutoFit/>
          </a:bodyPr>
          <a:lstStyle/>
          <a:p>
            <a:pPr algn="l">
              <a:lnSpc>
                <a:spcPts val="9350"/>
              </a:lnSpc>
            </a:pPr>
            <a:r>
              <a:rPr lang="en-US" sz="11000" spc="-418" b="true">
                <a:solidFill>
                  <a:srgbClr val="191919"/>
                </a:solidFill>
                <a:latin typeface="Source Serif Pro Bold"/>
                <a:ea typeface="Source Serif Pro Bold"/>
                <a:cs typeface="Source Serif Pro Bold"/>
                <a:sym typeface="Source Serif Pro Bold"/>
              </a:rPr>
              <a:t>SWOT</a:t>
            </a:r>
          </a:p>
        </p:txBody>
      </p:sp>
      <p:sp>
        <p:nvSpPr>
          <p:cNvPr name="Freeform 9" id="9"/>
          <p:cNvSpPr/>
          <p:nvPr/>
        </p:nvSpPr>
        <p:spPr>
          <a:xfrm flipH="false" flipV="false" rot="2984692">
            <a:off x="16892729" y="2759295"/>
            <a:ext cx="1505047" cy="1510540"/>
          </a:xfrm>
          <a:custGeom>
            <a:avLst/>
            <a:gdLst/>
            <a:ahLst/>
            <a:cxnLst/>
            <a:rect r="r" b="b" t="t" l="l"/>
            <a:pathLst>
              <a:path h="1510540" w="1505047">
                <a:moveTo>
                  <a:pt x="0" y="0"/>
                </a:moveTo>
                <a:lnTo>
                  <a:pt x="1505047" y="0"/>
                </a:lnTo>
                <a:lnTo>
                  <a:pt x="1505047" y="1510540"/>
                </a:lnTo>
                <a:lnTo>
                  <a:pt x="0" y="15105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256199" y="5174750"/>
            <a:ext cx="7598625" cy="3299143"/>
            <a:chOff x="0" y="0"/>
            <a:chExt cx="2001284" cy="868910"/>
          </a:xfrm>
        </p:grpSpPr>
        <p:sp>
          <p:nvSpPr>
            <p:cNvPr name="Freeform 11" id="11"/>
            <p:cNvSpPr/>
            <p:nvPr/>
          </p:nvSpPr>
          <p:spPr>
            <a:xfrm flipH="false" flipV="false" rot="0">
              <a:off x="0" y="0"/>
              <a:ext cx="2001284" cy="868910"/>
            </a:xfrm>
            <a:custGeom>
              <a:avLst/>
              <a:gdLst/>
              <a:ahLst/>
              <a:cxnLst/>
              <a:rect r="r" b="b" t="t" l="l"/>
              <a:pathLst>
                <a:path h="868910" w="2001284">
                  <a:moveTo>
                    <a:pt x="51962" y="0"/>
                  </a:moveTo>
                  <a:lnTo>
                    <a:pt x="1949322" y="0"/>
                  </a:lnTo>
                  <a:cubicBezTo>
                    <a:pt x="1963103" y="0"/>
                    <a:pt x="1976320" y="5475"/>
                    <a:pt x="1986065" y="15219"/>
                  </a:cubicBezTo>
                  <a:cubicBezTo>
                    <a:pt x="1995810" y="24964"/>
                    <a:pt x="2001284" y="38181"/>
                    <a:pt x="2001284" y="51962"/>
                  </a:cubicBezTo>
                  <a:lnTo>
                    <a:pt x="2001284" y="816948"/>
                  </a:lnTo>
                  <a:cubicBezTo>
                    <a:pt x="2001284" y="830729"/>
                    <a:pt x="1995810" y="843946"/>
                    <a:pt x="1986065" y="853691"/>
                  </a:cubicBezTo>
                  <a:cubicBezTo>
                    <a:pt x="1976320" y="863435"/>
                    <a:pt x="1963103" y="868910"/>
                    <a:pt x="1949322" y="868910"/>
                  </a:cubicBezTo>
                  <a:lnTo>
                    <a:pt x="51962" y="868910"/>
                  </a:lnTo>
                  <a:cubicBezTo>
                    <a:pt x="38181" y="868910"/>
                    <a:pt x="24964" y="863435"/>
                    <a:pt x="15219" y="853691"/>
                  </a:cubicBezTo>
                  <a:cubicBezTo>
                    <a:pt x="5475" y="843946"/>
                    <a:pt x="0" y="830729"/>
                    <a:pt x="0" y="816948"/>
                  </a:cubicBezTo>
                  <a:lnTo>
                    <a:pt x="0" y="51962"/>
                  </a:lnTo>
                  <a:cubicBezTo>
                    <a:pt x="0" y="38181"/>
                    <a:pt x="5475" y="24964"/>
                    <a:pt x="15219" y="15219"/>
                  </a:cubicBezTo>
                  <a:cubicBezTo>
                    <a:pt x="24964" y="5475"/>
                    <a:pt x="38181" y="0"/>
                    <a:pt x="51962" y="0"/>
                  </a:cubicBezTo>
                  <a:close/>
                </a:path>
              </a:pathLst>
            </a:custGeom>
            <a:ln w="28575" cap="rnd">
              <a:solidFill>
                <a:srgbClr val="000000"/>
              </a:solidFill>
              <a:prstDash val="solid"/>
              <a:round/>
            </a:ln>
          </p:spPr>
        </p:sp>
        <p:sp>
          <p:nvSpPr>
            <p:cNvPr name="TextBox 12" id="12"/>
            <p:cNvSpPr txBox="true"/>
            <p:nvPr/>
          </p:nvSpPr>
          <p:spPr>
            <a:xfrm>
              <a:off x="0" y="-85725"/>
              <a:ext cx="2001284" cy="954635"/>
            </a:xfrm>
            <a:prstGeom prst="rect">
              <a:avLst/>
            </a:prstGeom>
          </p:spPr>
          <p:txBody>
            <a:bodyPr anchor="ctr" rtlCol="false" tIns="50800" lIns="50800" bIns="50800" rIns="50800"/>
            <a:lstStyle/>
            <a:p>
              <a:pPr algn="ctr">
                <a:lnSpc>
                  <a:spcPts val="2212"/>
                </a:lnSpc>
              </a:pPr>
            </a:p>
          </p:txBody>
        </p:sp>
      </p:grpSp>
      <p:grpSp>
        <p:nvGrpSpPr>
          <p:cNvPr name="Group 13" id="13"/>
          <p:cNvGrpSpPr/>
          <p:nvPr/>
        </p:nvGrpSpPr>
        <p:grpSpPr>
          <a:xfrm rot="0">
            <a:off x="219190" y="1626854"/>
            <a:ext cx="7598625" cy="2950068"/>
            <a:chOff x="0" y="0"/>
            <a:chExt cx="2001284" cy="776973"/>
          </a:xfrm>
        </p:grpSpPr>
        <p:sp>
          <p:nvSpPr>
            <p:cNvPr name="Freeform 14" id="14"/>
            <p:cNvSpPr/>
            <p:nvPr/>
          </p:nvSpPr>
          <p:spPr>
            <a:xfrm flipH="false" flipV="false" rot="0">
              <a:off x="0" y="0"/>
              <a:ext cx="2001284" cy="776973"/>
            </a:xfrm>
            <a:custGeom>
              <a:avLst/>
              <a:gdLst/>
              <a:ahLst/>
              <a:cxnLst/>
              <a:rect r="r" b="b" t="t" l="l"/>
              <a:pathLst>
                <a:path h="776973" w="2001284">
                  <a:moveTo>
                    <a:pt x="51962" y="0"/>
                  </a:moveTo>
                  <a:lnTo>
                    <a:pt x="1949322" y="0"/>
                  </a:lnTo>
                  <a:cubicBezTo>
                    <a:pt x="1963103" y="0"/>
                    <a:pt x="1976320" y="5475"/>
                    <a:pt x="1986065" y="15219"/>
                  </a:cubicBezTo>
                  <a:cubicBezTo>
                    <a:pt x="1995810" y="24964"/>
                    <a:pt x="2001284" y="38181"/>
                    <a:pt x="2001284" y="51962"/>
                  </a:cubicBezTo>
                  <a:lnTo>
                    <a:pt x="2001284" y="725011"/>
                  </a:lnTo>
                  <a:cubicBezTo>
                    <a:pt x="2001284" y="738792"/>
                    <a:pt x="1995810" y="752009"/>
                    <a:pt x="1986065" y="761754"/>
                  </a:cubicBezTo>
                  <a:cubicBezTo>
                    <a:pt x="1976320" y="771498"/>
                    <a:pt x="1963103" y="776973"/>
                    <a:pt x="1949322" y="776973"/>
                  </a:cubicBezTo>
                  <a:lnTo>
                    <a:pt x="51962" y="776973"/>
                  </a:lnTo>
                  <a:cubicBezTo>
                    <a:pt x="38181" y="776973"/>
                    <a:pt x="24964" y="771498"/>
                    <a:pt x="15219" y="761754"/>
                  </a:cubicBezTo>
                  <a:cubicBezTo>
                    <a:pt x="5475" y="752009"/>
                    <a:pt x="0" y="738792"/>
                    <a:pt x="0" y="725011"/>
                  </a:cubicBezTo>
                  <a:lnTo>
                    <a:pt x="0" y="51962"/>
                  </a:lnTo>
                  <a:cubicBezTo>
                    <a:pt x="0" y="38181"/>
                    <a:pt x="5475" y="24964"/>
                    <a:pt x="15219" y="15219"/>
                  </a:cubicBezTo>
                  <a:cubicBezTo>
                    <a:pt x="24964" y="5475"/>
                    <a:pt x="38181" y="0"/>
                    <a:pt x="51962" y="0"/>
                  </a:cubicBezTo>
                  <a:close/>
                </a:path>
              </a:pathLst>
            </a:custGeom>
            <a:ln w="28575" cap="rnd">
              <a:solidFill>
                <a:srgbClr val="000000"/>
              </a:solidFill>
              <a:prstDash val="solid"/>
              <a:round/>
            </a:ln>
          </p:spPr>
        </p:sp>
        <p:sp>
          <p:nvSpPr>
            <p:cNvPr name="TextBox 15" id="15"/>
            <p:cNvSpPr txBox="true"/>
            <p:nvPr/>
          </p:nvSpPr>
          <p:spPr>
            <a:xfrm>
              <a:off x="0" y="-85725"/>
              <a:ext cx="2001284" cy="862698"/>
            </a:xfrm>
            <a:prstGeom prst="rect">
              <a:avLst/>
            </a:prstGeom>
          </p:spPr>
          <p:txBody>
            <a:bodyPr anchor="ctr" rtlCol="false" tIns="50800" lIns="50800" bIns="50800" rIns="50800"/>
            <a:lstStyle/>
            <a:p>
              <a:pPr algn="ctr">
                <a:lnSpc>
                  <a:spcPts val="2212"/>
                </a:lnSpc>
              </a:pPr>
            </a:p>
          </p:txBody>
        </p:sp>
      </p:grpSp>
      <p:grpSp>
        <p:nvGrpSpPr>
          <p:cNvPr name="Group 16" id="16"/>
          <p:cNvGrpSpPr/>
          <p:nvPr/>
        </p:nvGrpSpPr>
        <p:grpSpPr>
          <a:xfrm rot="0">
            <a:off x="8292975" y="5160236"/>
            <a:ext cx="7598625" cy="3299143"/>
            <a:chOff x="0" y="0"/>
            <a:chExt cx="2001284" cy="868910"/>
          </a:xfrm>
        </p:grpSpPr>
        <p:sp>
          <p:nvSpPr>
            <p:cNvPr name="Freeform 17" id="17"/>
            <p:cNvSpPr/>
            <p:nvPr/>
          </p:nvSpPr>
          <p:spPr>
            <a:xfrm flipH="false" flipV="false" rot="0">
              <a:off x="0" y="0"/>
              <a:ext cx="2001284" cy="868910"/>
            </a:xfrm>
            <a:custGeom>
              <a:avLst/>
              <a:gdLst/>
              <a:ahLst/>
              <a:cxnLst/>
              <a:rect r="r" b="b" t="t" l="l"/>
              <a:pathLst>
                <a:path h="868910" w="2001284">
                  <a:moveTo>
                    <a:pt x="51962" y="0"/>
                  </a:moveTo>
                  <a:lnTo>
                    <a:pt x="1949322" y="0"/>
                  </a:lnTo>
                  <a:cubicBezTo>
                    <a:pt x="1963103" y="0"/>
                    <a:pt x="1976320" y="5475"/>
                    <a:pt x="1986065" y="15219"/>
                  </a:cubicBezTo>
                  <a:cubicBezTo>
                    <a:pt x="1995810" y="24964"/>
                    <a:pt x="2001284" y="38181"/>
                    <a:pt x="2001284" y="51962"/>
                  </a:cubicBezTo>
                  <a:lnTo>
                    <a:pt x="2001284" y="816948"/>
                  </a:lnTo>
                  <a:cubicBezTo>
                    <a:pt x="2001284" y="830729"/>
                    <a:pt x="1995810" y="843946"/>
                    <a:pt x="1986065" y="853691"/>
                  </a:cubicBezTo>
                  <a:cubicBezTo>
                    <a:pt x="1976320" y="863435"/>
                    <a:pt x="1963103" y="868910"/>
                    <a:pt x="1949322" y="868910"/>
                  </a:cubicBezTo>
                  <a:lnTo>
                    <a:pt x="51962" y="868910"/>
                  </a:lnTo>
                  <a:cubicBezTo>
                    <a:pt x="38181" y="868910"/>
                    <a:pt x="24964" y="863435"/>
                    <a:pt x="15219" y="853691"/>
                  </a:cubicBezTo>
                  <a:cubicBezTo>
                    <a:pt x="5475" y="843946"/>
                    <a:pt x="0" y="830729"/>
                    <a:pt x="0" y="816948"/>
                  </a:cubicBezTo>
                  <a:lnTo>
                    <a:pt x="0" y="51962"/>
                  </a:lnTo>
                  <a:cubicBezTo>
                    <a:pt x="0" y="38181"/>
                    <a:pt x="5475" y="24964"/>
                    <a:pt x="15219" y="15219"/>
                  </a:cubicBezTo>
                  <a:cubicBezTo>
                    <a:pt x="24964" y="5475"/>
                    <a:pt x="38181" y="0"/>
                    <a:pt x="51962" y="0"/>
                  </a:cubicBezTo>
                  <a:close/>
                </a:path>
              </a:pathLst>
            </a:custGeom>
            <a:ln w="28575" cap="rnd">
              <a:solidFill>
                <a:srgbClr val="000000"/>
              </a:solidFill>
              <a:prstDash val="solid"/>
              <a:round/>
            </a:ln>
          </p:spPr>
        </p:sp>
        <p:sp>
          <p:nvSpPr>
            <p:cNvPr name="TextBox 18" id="18"/>
            <p:cNvSpPr txBox="true"/>
            <p:nvPr/>
          </p:nvSpPr>
          <p:spPr>
            <a:xfrm>
              <a:off x="0" y="-85725"/>
              <a:ext cx="2001284" cy="954635"/>
            </a:xfrm>
            <a:prstGeom prst="rect">
              <a:avLst/>
            </a:prstGeom>
          </p:spPr>
          <p:txBody>
            <a:bodyPr anchor="ctr" rtlCol="false" tIns="50800" lIns="50800" bIns="50800" rIns="50800"/>
            <a:lstStyle/>
            <a:p>
              <a:pPr algn="ctr">
                <a:lnSpc>
                  <a:spcPts val="2212"/>
                </a:lnSpc>
              </a:pPr>
            </a:p>
          </p:txBody>
        </p:sp>
      </p:grpSp>
      <p:grpSp>
        <p:nvGrpSpPr>
          <p:cNvPr name="Group 19" id="19"/>
          <p:cNvGrpSpPr/>
          <p:nvPr/>
        </p:nvGrpSpPr>
        <p:grpSpPr>
          <a:xfrm rot="0">
            <a:off x="8292975" y="1671391"/>
            <a:ext cx="7598625" cy="2950068"/>
            <a:chOff x="0" y="0"/>
            <a:chExt cx="2001284" cy="776973"/>
          </a:xfrm>
        </p:grpSpPr>
        <p:sp>
          <p:nvSpPr>
            <p:cNvPr name="Freeform 20" id="20"/>
            <p:cNvSpPr/>
            <p:nvPr/>
          </p:nvSpPr>
          <p:spPr>
            <a:xfrm flipH="false" flipV="false" rot="0">
              <a:off x="0" y="0"/>
              <a:ext cx="2001284" cy="776973"/>
            </a:xfrm>
            <a:custGeom>
              <a:avLst/>
              <a:gdLst/>
              <a:ahLst/>
              <a:cxnLst/>
              <a:rect r="r" b="b" t="t" l="l"/>
              <a:pathLst>
                <a:path h="776973" w="2001284">
                  <a:moveTo>
                    <a:pt x="51962" y="0"/>
                  </a:moveTo>
                  <a:lnTo>
                    <a:pt x="1949322" y="0"/>
                  </a:lnTo>
                  <a:cubicBezTo>
                    <a:pt x="1963103" y="0"/>
                    <a:pt x="1976320" y="5475"/>
                    <a:pt x="1986065" y="15219"/>
                  </a:cubicBezTo>
                  <a:cubicBezTo>
                    <a:pt x="1995810" y="24964"/>
                    <a:pt x="2001284" y="38181"/>
                    <a:pt x="2001284" y="51962"/>
                  </a:cubicBezTo>
                  <a:lnTo>
                    <a:pt x="2001284" y="725011"/>
                  </a:lnTo>
                  <a:cubicBezTo>
                    <a:pt x="2001284" y="738792"/>
                    <a:pt x="1995810" y="752009"/>
                    <a:pt x="1986065" y="761754"/>
                  </a:cubicBezTo>
                  <a:cubicBezTo>
                    <a:pt x="1976320" y="771498"/>
                    <a:pt x="1963103" y="776973"/>
                    <a:pt x="1949322" y="776973"/>
                  </a:cubicBezTo>
                  <a:lnTo>
                    <a:pt x="51962" y="776973"/>
                  </a:lnTo>
                  <a:cubicBezTo>
                    <a:pt x="38181" y="776973"/>
                    <a:pt x="24964" y="771498"/>
                    <a:pt x="15219" y="761754"/>
                  </a:cubicBezTo>
                  <a:cubicBezTo>
                    <a:pt x="5475" y="752009"/>
                    <a:pt x="0" y="738792"/>
                    <a:pt x="0" y="725011"/>
                  </a:cubicBezTo>
                  <a:lnTo>
                    <a:pt x="0" y="51962"/>
                  </a:lnTo>
                  <a:cubicBezTo>
                    <a:pt x="0" y="38181"/>
                    <a:pt x="5475" y="24964"/>
                    <a:pt x="15219" y="15219"/>
                  </a:cubicBezTo>
                  <a:cubicBezTo>
                    <a:pt x="24964" y="5475"/>
                    <a:pt x="38181" y="0"/>
                    <a:pt x="51962" y="0"/>
                  </a:cubicBezTo>
                  <a:close/>
                </a:path>
              </a:pathLst>
            </a:custGeom>
            <a:ln w="28575" cap="rnd">
              <a:solidFill>
                <a:srgbClr val="000000"/>
              </a:solidFill>
              <a:prstDash val="solid"/>
              <a:round/>
            </a:ln>
          </p:spPr>
        </p:sp>
        <p:sp>
          <p:nvSpPr>
            <p:cNvPr name="TextBox 21" id="21"/>
            <p:cNvSpPr txBox="true"/>
            <p:nvPr/>
          </p:nvSpPr>
          <p:spPr>
            <a:xfrm>
              <a:off x="0" y="-85725"/>
              <a:ext cx="2001284" cy="862698"/>
            </a:xfrm>
            <a:prstGeom prst="rect">
              <a:avLst/>
            </a:prstGeom>
          </p:spPr>
          <p:txBody>
            <a:bodyPr anchor="ctr" rtlCol="false" tIns="50800" lIns="50800" bIns="50800" rIns="50800"/>
            <a:lstStyle/>
            <a:p>
              <a:pPr algn="ctr">
                <a:lnSpc>
                  <a:spcPts val="2212"/>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928039">
            <a:off x="14851901" y="-1724152"/>
            <a:ext cx="5495217" cy="5475234"/>
          </a:xfrm>
          <a:custGeom>
            <a:avLst/>
            <a:gdLst/>
            <a:ahLst/>
            <a:cxnLst/>
            <a:rect r="r" b="b" t="t" l="l"/>
            <a:pathLst>
              <a:path h="5475234" w="5495217">
                <a:moveTo>
                  <a:pt x="0" y="0"/>
                </a:moveTo>
                <a:lnTo>
                  <a:pt x="5495216" y="0"/>
                </a:lnTo>
                <a:lnTo>
                  <a:pt x="5495216" y="5475234"/>
                </a:lnTo>
                <a:lnTo>
                  <a:pt x="0" y="547523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97924" y="207660"/>
            <a:ext cx="4262637" cy="3403551"/>
          </a:xfrm>
          <a:custGeom>
            <a:avLst/>
            <a:gdLst/>
            <a:ahLst/>
            <a:cxnLst/>
            <a:rect r="r" b="b" t="t" l="l"/>
            <a:pathLst>
              <a:path h="3403551" w="4262637">
                <a:moveTo>
                  <a:pt x="0" y="0"/>
                </a:moveTo>
                <a:lnTo>
                  <a:pt x="4262637" y="0"/>
                </a:lnTo>
                <a:lnTo>
                  <a:pt x="4262637" y="3403552"/>
                </a:lnTo>
                <a:lnTo>
                  <a:pt x="0" y="34035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67255" y="3611212"/>
            <a:ext cx="2161339" cy="1499625"/>
          </a:xfrm>
          <a:custGeom>
            <a:avLst/>
            <a:gdLst/>
            <a:ahLst/>
            <a:cxnLst/>
            <a:rect r="r" b="b" t="t" l="l"/>
            <a:pathLst>
              <a:path h="1499625" w="2161339">
                <a:moveTo>
                  <a:pt x="0" y="0"/>
                </a:moveTo>
                <a:lnTo>
                  <a:pt x="2161340" y="0"/>
                </a:lnTo>
                <a:lnTo>
                  <a:pt x="2161340" y="1499625"/>
                </a:lnTo>
                <a:lnTo>
                  <a:pt x="0" y="14996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686585" y="4361024"/>
            <a:ext cx="2161339" cy="1499625"/>
          </a:xfrm>
          <a:custGeom>
            <a:avLst/>
            <a:gdLst/>
            <a:ahLst/>
            <a:cxnLst/>
            <a:rect r="r" b="b" t="t" l="l"/>
            <a:pathLst>
              <a:path h="1499625" w="2161339">
                <a:moveTo>
                  <a:pt x="0" y="0"/>
                </a:moveTo>
                <a:lnTo>
                  <a:pt x="2161340" y="0"/>
                </a:lnTo>
                <a:lnTo>
                  <a:pt x="2161340" y="1499625"/>
                </a:lnTo>
                <a:lnTo>
                  <a:pt x="0" y="14996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31565" y="1909436"/>
            <a:ext cx="4658191" cy="1108819"/>
            <a:chOff x="0" y="0"/>
            <a:chExt cx="1226849" cy="292035"/>
          </a:xfrm>
        </p:grpSpPr>
        <p:sp>
          <p:nvSpPr>
            <p:cNvPr name="Freeform 7" id="7"/>
            <p:cNvSpPr/>
            <p:nvPr/>
          </p:nvSpPr>
          <p:spPr>
            <a:xfrm flipH="false" flipV="false" rot="0">
              <a:off x="0" y="0"/>
              <a:ext cx="1226849" cy="292035"/>
            </a:xfrm>
            <a:custGeom>
              <a:avLst/>
              <a:gdLst/>
              <a:ahLst/>
              <a:cxnLst/>
              <a:rect r="r" b="b" t="t" l="l"/>
              <a:pathLst>
                <a:path h="292035" w="1226849">
                  <a:moveTo>
                    <a:pt x="84762" y="0"/>
                  </a:moveTo>
                  <a:lnTo>
                    <a:pt x="1142087" y="0"/>
                  </a:lnTo>
                  <a:cubicBezTo>
                    <a:pt x="1188900" y="0"/>
                    <a:pt x="1226849" y="37949"/>
                    <a:pt x="1226849" y="84762"/>
                  </a:cubicBezTo>
                  <a:lnTo>
                    <a:pt x="1226849" y="207273"/>
                  </a:lnTo>
                  <a:cubicBezTo>
                    <a:pt x="1226849" y="229753"/>
                    <a:pt x="1217918" y="251312"/>
                    <a:pt x="1202023" y="267208"/>
                  </a:cubicBezTo>
                  <a:cubicBezTo>
                    <a:pt x="1186127" y="283104"/>
                    <a:pt x="1164567" y="292035"/>
                    <a:pt x="1142087" y="292035"/>
                  </a:cubicBezTo>
                  <a:lnTo>
                    <a:pt x="84762" y="292035"/>
                  </a:lnTo>
                  <a:cubicBezTo>
                    <a:pt x="62282" y="292035"/>
                    <a:pt x="40722" y="283104"/>
                    <a:pt x="24826" y="267208"/>
                  </a:cubicBezTo>
                  <a:cubicBezTo>
                    <a:pt x="8930" y="251312"/>
                    <a:pt x="0" y="229753"/>
                    <a:pt x="0" y="207273"/>
                  </a:cubicBezTo>
                  <a:lnTo>
                    <a:pt x="0" y="84762"/>
                  </a:lnTo>
                  <a:cubicBezTo>
                    <a:pt x="0" y="37949"/>
                    <a:pt x="37949" y="0"/>
                    <a:pt x="84762" y="0"/>
                  </a:cubicBezTo>
                  <a:close/>
                </a:path>
              </a:pathLst>
            </a:custGeom>
            <a:ln w="28575" cap="rnd">
              <a:solidFill>
                <a:srgbClr val="000000"/>
              </a:solidFill>
              <a:prstDash val="solid"/>
              <a:round/>
            </a:ln>
          </p:spPr>
        </p:sp>
        <p:sp>
          <p:nvSpPr>
            <p:cNvPr name="TextBox 8" id="8"/>
            <p:cNvSpPr txBox="true"/>
            <p:nvPr/>
          </p:nvSpPr>
          <p:spPr>
            <a:xfrm>
              <a:off x="0" y="-57150"/>
              <a:ext cx="1226849" cy="349185"/>
            </a:xfrm>
            <a:prstGeom prst="rect">
              <a:avLst/>
            </a:prstGeom>
          </p:spPr>
          <p:txBody>
            <a:bodyPr anchor="ctr" rtlCol="false" tIns="50800" lIns="50800" bIns="50800" rIns="50800"/>
            <a:lstStyle/>
            <a:p>
              <a:pPr algn="ctr">
                <a:lnSpc>
                  <a:spcPts val="3919"/>
                </a:lnSpc>
              </a:pPr>
              <a:r>
                <a:rPr lang="en-US" sz="2799">
                  <a:solidFill>
                    <a:srgbClr val="000000"/>
                  </a:solidFill>
                  <a:latin typeface="Source Serif Pro"/>
                  <a:ea typeface="Source Serif Pro"/>
                  <a:cs typeface="Source Serif Pro"/>
                  <a:sym typeface="Source Serif Pro"/>
                </a:rPr>
                <a:t>Political</a:t>
              </a:r>
            </a:p>
          </p:txBody>
        </p:sp>
      </p:grpSp>
      <p:grpSp>
        <p:nvGrpSpPr>
          <p:cNvPr name="Group 9" id="9"/>
          <p:cNvGrpSpPr/>
          <p:nvPr/>
        </p:nvGrpSpPr>
        <p:grpSpPr>
          <a:xfrm rot="0">
            <a:off x="5320076" y="1909436"/>
            <a:ext cx="4658191" cy="1108819"/>
            <a:chOff x="0" y="0"/>
            <a:chExt cx="1226849" cy="292035"/>
          </a:xfrm>
        </p:grpSpPr>
        <p:sp>
          <p:nvSpPr>
            <p:cNvPr name="Freeform 10" id="10"/>
            <p:cNvSpPr/>
            <p:nvPr/>
          </p:nvSpPr>
          <p:spPr>
            <a:xfrm flipH="false" flipV="false" rot="0">
              <a:off x="0" y="0"/>
              <a:ext cx="1226849" cy="292035"/>
            </a:xfrm>
            <a:custGeom>
              <a:avLst/>
              <a:gdLst/>
              <a:ahLst/>
              <a:cxnLst/>
              <a:rect r="r" b="b" t="t" l="l"/>
              <a:pathLst>
                <a:path h="292035" w="1226849">
                  <a:moveTo>
                    <a:pt x="84762" y="0"/>
                  </a:moveTo>
                  <a:lnTo>
                    <a:pt x="1142087" y="0"/>
                  </a:lnTo>
                  <a:cubicBezTo>
                    <a:pt x="1188900" y="0"/>
                    <a:pt x="1226849" y="37949"/>
                    <a:pt x="1226849" y="84762"/>
                  </a:cubicBezTo>
                  <a:lnTo>
                    <a:pt x="1226849" y="207273"/>
                  </a:lnTo>
                  <a:cubicBezTo>
                    <a:pt x="1226849" y="229753"/>
                    <a:pt x="1217918" y="251312"/>
                    <a:pt x="1202023" y="267208"/>
                  </a:cubicBezTo>
                  <a:cubicBezTo>
                    <a:pt x="1186127" y="283104"/>
                    <a:pt x="1164567" y="292035"/>
                    <a:pt x="1142087" y="292035"/>
                  </a:cubicBezTo>
                  <a:lnTo>
                    <a:pt x="84762" y="292035"/>
                  </a:lnTo>
                  <a:cubicBezTo>
                    <a:pt x="62282" y="292035"/>
                    <a:pt x="40722" y="283104"/>
                    <a:pt x="24826" y="267208"/>
                  </a:cubicBezTo>
                  <a:cubicBezTo>
                    <a:pt x="8930" y="251312"/>
                    <a:pt x="0" y="229753"/>
                    <a:pt x="0" y="207273"/>
                  </a:cubicBezTo>
                  <a:lnTo>
                    <a:pt x="0" y="84762"/>
                  </a:lnTo>
                  <a:cubicBezTo>
                    <a:pt x="0" y="37949"/>
                    <a:pt x="37949" y="0"/>
                    <a:pt x="84762" y="0"/>
                  </a:cubicBezTo>
                  <a:close/>
                </a:path>
              </a:pathLst>
            </a:custGeom>
            <a:ln w="28575" cap="rnd">
              <a:solidFill>
                <a:srgbClr val="000000"/>
              </a:solidFill>
              <a:prstDash val="solid"/>
              <a:round/>
            </a:ln>
          </p:spPr>
        </p:sp>
        <p:sp>
          <p:nvSpPr>
            <p:cNvPr name="TextBox 11" id="11"/>
            <p:cNvSpPr txBox="true"/>
            <p:nvPr/>
          </p:nvSpPr>
          <p:spPr>
            <a:xfrm>
              <a:off x="0" y="-57150"/>
              <a:ext cx="1226849" cy="349185"/>
            </a:xfrm>
            <a:prstGeom prst="rect">
              <a:avLst/>
            </a:prstGeom>
          </p:spPr>
          <p:txBody>
            <a:bodyPr anchor="ctr" rtlCol="false" tIns="50800" lIns="50800" bIns="50800" rIns="50800"/>
            <a:lstStyle/>
            <a:p>
              <a:pPr algn="ctr">
                <a:lnSpc>
                  <a:spcPts val="3919"/>
                </a:lnSpc>
              </a:pPr>
              <a:r>
                <a:rPr lang="en-US" sz="2799">
                  <a:solidFill>
                    <a:srgbClr val="000000"/>
                  </a:solidFill>
                  <a:latin typeface="Source Serif Pro"/>
                  <a:ea typeface="Source Serif Pro"/>
                  <a:cs typeface="Source Serif Pro"/>
                  <a:sym typeface="Source Serif Pro"/>
                </a:rPr>
                <a:t>Economic</a:t>
              </a:r>
            </a:p>
          </p:txBody>
        </p:sp>
      </p:grpSp>
      <p:grpSp>
        <p:nvGrpSpPr>
          <p:cNvPr name="Group 12" id="12"/>
          <p:cNvGrpSpPr/>
          <p:nvPr/>
        </p:nvGrpSpPr>
        <p:grpSpPr>
          <a:xfrm rot="0">
            <a:off x="10283146" y="1909436"/>
            <a:ext cx="4658191" cy="1108819"/>
            <a:chOff x="0" y="0"/>
            <a:chExt cx="1226849" cy="292035"/>
          </a:xfrm>
        </p:grpSpPr>
        <p:sp>
          <p:nvSpPr>
            <p:cNvPr name="Freeform 13" id="13"/>
            <p:cNvSpPr/>
            <p:nvPr/>
          </p:nvSpPr>
          <p:spPr>
            <a:xfrm flipH="false" flipV="false" rot="0">
              <a:off x="0" y="0"/>
              <a:ext cx="1226849" cy="292035"/>
            </a:xfrm>
            <a:custGeom>
              <a:avLst/>
              <a:gdLst/>
              <a:ahLst/>
              <a:cxnLst/>
              <a:rect r="r" b="b" t="t" l="l"/>
              <a:pathLst>
                <a:path h="292035" w="1226849">
                  <a:moveTo>
                    <a:pt x="84762" y="0"/>
                  </a:moveTo>
                  <a:lnTo>
                    <a:pt x="1142087" y="0"/>
                  </a:lnTo>
                  <a:cubicBezTo>
                    <a:pt x="1188900" y="0"/>
                    <a:pt x="1226849" y="37949"/>
                    <a:pt x="1226849" y="84762"/>
                  </a:cubicBezTo>
                  <a:lnTo>
                    <a:pt x="1226849" y="207273"/>
                  </a:lnTo>
                  <a:cubicBezTo>
                    <a:pt x="1226849" y="229753"/>
                    <a:pt x="1217918" y="251312"/>
                    <a:pt x="1202023" y="267208"/>
                  </a:cubicBezTo>
                  <a:cubicBezTo>
                    <a:pt x="1186127" y="283104"/>
                    <a:pt x="1164567" y="292035"/>
                    <a:pt x="1142087" y="292035"/>
                  </a:cubicBezTo>
                  <a:lnTo>
                    <a:pt x="84762" y="292035"/>
                  </a:lnTo>
                  <a:cubicBezTo>
                    <a:pt x="62282" y="292035"/>
                    <a:pt x="40722" y="283104"/>
                    <a:pt x="24826" y="267208"/>
                  </a:cubicBezTo>
                  <a:cubicBezTo>
                    <a:pt x="8930" y="251312"/>
                    <a:pt x="0" y="229753"/>
                    <a:pt x="0" y="207273"/>
                  </a:cubicBezTo>
                  <a:lnTo>
                    <a:pt x="0" y="84762"/>
                  </a:lnTo>
                  <a:cubicBezTo>
                    <a:pt x="0" y="37949"/>
                    <a:pt x="37949" y="0"/>
                    <a:pt x="84762" y="0"/>
                  </a:cubicBezTo>
                  <a:close/>
                </a:path>
              </a:pathLst>
            </a:custGeom>
            <a:ln w="28575" cap="rnd">
              <a:solidFill>
                <a:srgbClr val="000000"/>
              </a:solidFill>
              <a:prstDash val="solid"/>
              <a:round/>
            </a:ln>
          </p:spPr>
        </p:sp>
        <p:sp>
          <p:nvSpPr>
            <p:cNvPr name="TextBox 14" id="14"/>
            <p:cNvSpPr txBox="true"/>
            <p:nvPr/>
          </p:nvSpPr>
          <p:spPr>
            <a:xfrm>
              <a:off x="0" y="-57150"/>
              <a:ext cx="1226849" cy="349185"/>
            </a:xfrm>
            <a:prstGeom prst="rect">
              <a:avLst/>
            </a:prstGeom>
          </p:spPr>
          <p:txBody>
            <a:bodyPr anchor="ctr" rtlCol="false" tIns="50800" lIns="50800" bIns="50800" rIns="50800"/>
            <a:lstStyle/>
            <a:p>
              <a:pPr algn="ctr">
                <a:lnSpc>
                  <a:spcPts val="3919"/>
                </a:lnSpc>
              </a:pPr>
              <a:r>
                <a:rPr lang="en-US" sz="2799">
                  <a:solidFill>
                    <a:srgbClr val="000000"/>
                  </a:solidFill>
                  <a:latin typeface="Source Serif Pro"/>
                  <a:ea typeface="Source Serif Pro"/>
                  <a:cs typeface="Source Serif Pro"/>
                  <a:sym typeface="Source Serif Pro"/>
                </a:rPr>
                <a:t>Social</a:t>
              </a:r>
            </a:p>
          </p:txBody>
        </p:sp>
      </p:grpSp>
      <p:sp>
        <p:nvSpPr>
          <p:cNvPr name="TextBox 15" id="15"/>
          <p:cNvSpPr txBox="true"/>
          <p:nvPr/>
        </p:nvSpPr>
        <p:spPr>
          <a:xfrm rot="0">
            <a:off x="501605" y="636905"/>
            <a:ext cx="12236077" cy="981720"/>
          </a:xfrm>
          <a:prstGeom prst="rect">
            <a:avLst/>
          </a:prstGeom>
        </p:spPr>
        <p:txBody>
          <a:bodyPr anchor="t" rtlCol="false" tIns="0" lIns="0" bIns="0" rIns="0">
            <a:spAutoFit/>
          </a:bodyPr>
          <a:lstStyle/>
          <a:p>
            <a:pPr algn="l">
              <a:lnSpc>
                <a:spcPts val="7120"/>
              </a:lnSpc>
            </a:pPr>
            <a:r>
              <a:rPr lang="en-US" sz="8000" b="true">
                <a:solidFill>
                  <a:srgbClr val="111111"/>
                </a:solidFill>
                <a:latin typeface="Source Serif Pro Bold"/>
                <a:ea typeface="Source Serif Pro Bold"/>
                <a:cs typeface="Source Serif Pro Bold"/>
                <a:sym typeface="Source Serif Pro Bold"/>
              </a:rPr>
              <a:t>Macro Economic Aspect</a:t>
            </a:r>
          </a:p>
        </p:txBody>
      </p:sp>
      <p:grpSp>
        <p:nvGrpSpPr>
          <p:cNvPr name="Group 16" id="16"/>
          <p:cNvGrpSpPr/>
          <p:nvPr/>
        </p:nvGrpSpPr>
        <p:grpSpPr>
          <a:xfrm rot="0">
            <a:off x="231565" y="3313530"/>
            <a:ext cx="4658191" cy="5944770"/>
            <a:chOff x="0" y="0"/>
            <a:chExt cx="1226849" cy="1565701"/>
          </a:xfrm>
        </p:grpSpPr>
        <p:sp>
          <p:nvSpPr>
            <p:cNvPr name="Freeform 17" id="17"/>
            <p:cNvSpPr/>
            <p:nvPr/>
          </p:nvSpPr>
          <p:spPr>
            <a:xfrm flipH="false" flipV="false" rot="0">
              <a:off x="0" y="0"/>
              <a:ext cx="1226849" cy="1565701"/>
            </a:xfrm>
            <a:custGeom>
              <a:avLst/>
              <a:gdLst/>
              <a:ahLst/>
              <a:cxnLst/>
              <a:rect r="r" b="b" t="t" l="l"/>
              <a:pathLst>
                <a:path h="1565701" w="1226849">
                  <a:moveTo>
                    <a:pt x="84762" y="0"/>
                  </a:moveTo>
                  <a:lnTo>
                    <a:pt x="1142087" y="0"/>
                  </a:lnTo>
                  <a:cubicBezTo>
                    <a:pt x="1188900" y="0"/>
                    <a:pt x="1226849" y="37949"/>
                    <a:pt x="1226849" y="84762"/>
                  </a:cubicBezTo>
                  <a:lnTo>
                    <a:pt x="1226849" y="1480939"/>
                  </a:lnTo>
                  <a:cubicBezTo>
                    <a:pt x="1226849" y="1503419"/>
                    <a:pt x="1217918" y="1524978"/>
                    <a:pt x="1202023" y="1540874"/>
                  </a:cubicBezTo>
                  <a:cubicBezTo>
                    <a:pt x="1186127" y="1556770"/>
                    <a:pt x="1164567" y="1565701"/>
                    <a:pt x="1142087" y="1565701"/>
                  </a:cubicBezTo>
                  <a:lnTo>
                    <a:pt x="84762" y="1565701"/>
                  </a:lnTo>
                  <a:cubicBezTo>
                    <a:pt x="37949" y="1565701"/>
                    <a:pt x="0" y="1527751"/>
                    <a:pt x="0" y="1480939"/>
                  </a:cubicBezTo>
                  <a:lnTo>
                    <a:pt x="0" y="84762"/>
                  </a:lnTo>
                  <a:cubicBezTo>
                    <a:pt x="0" y="37949"/>
                    <a:pt x="37949" y="0"/>
                    <a:pt x="84762" y="0"/>
                  </a:cubicBezTo>
                  <a:close/>
                </a:path>
              </a:pathLst>
            </a:custGeom>
            <a:ln w="28575" cap="rnd">
              <a:solidFill>
                <a:srgbClr val="000000"/>
              </a:solidFill>
              <a:prstDash val="solid"/>
              <a:round/>
            </a:ln>
          </p:spPr>
        </p:sp>
        <p:sp>
          <p:nvSpPr>
            <p:cNvPr name="TextBox 18" id="18"/>
            <p:cNvSpPr txBox="true"/>
            <p:nvPr/>
          </p:nvSpPr>
          <p:spPr>
            <a:xfrm>
              <a:off x="0" y="-47625"/>
              <a:ext cx="1226849" cy="1613326"/>
            </a:xfrm>
            <a:prstGeom prst="rect">
              <a:avLst/>
            </a:prstGeom>
          </p:spPr>
          <p:txBody>
            <a:bodyPr anchor="ctr" rtlCol="false" tIns="50800" lIns="50800" bIns="50800" rIns="50800"/>
            <a:lstStyle/>
            <a:p>
              <a:pPr algn="l">
                <a:lnSpc>
                  <a:spcPts val="3779"/>
                </a:lnSpc>
              </a:pPr>
              <a:r>
                <a:rPr lang="en-US" sz="2699">
                  <a:solidFill>
                    <a:srgbClr val="000000"/>
                  </a:solidFill>
                  <a:latin typeface="Source Serif Pro"/>
                  <a:ea typeface="Source Serif Pro"/>
                  <a:cs typeface="Source Serif Pro"/>
                  <a:sym typeface="Source Serif Pro"/>
                </a:rPr>
                <a:t>• MSME support under Make in India </a:t>
              </a:r>
            </a:p>
            <a:p>
              <a:pPr algn="l">
                <a:lnSpc>
                  <a:spcPts val="3779"/>
                </a:lnSpc>
              </a:pPr>
              <a:r>
                <a:rPr lang="en-US" sz="2699">
                  <a:solidFill>
                    <a:srgbClr val="000000"/>
                  </a:solidFill>
                  <a:latin typeface="Source Serif Pro"/>
                  <a:ea typeface="Source Serif Pro"/>
                  <a:cs typeface="Source Serif Pro"/>
                  <a:sym typeface="Source Serif Pro"/>
                </a:rPr>
                <a:t>• Government push for sustainable products </a:t>
              </a:r>
            </a:p>
            <a:p>
              <a:pPr algn="l">
                <a:lnSpc>
                  <a:spcPts val="3779"/>
                </a:lnSpc>
              </a:pPr>
              <a:r>
                <a:rPr lang="en-US" sz="2699">
                  <a:solidFill>
                    <a:srgbClr val="000000"/>
                  </a:solidFill>
                  <a:latin typeface="Source Serif Pro"/>
                  <a:ea typeface="Source Serif Pro"/>
                  <a:cs typeface="Source Serif Pro"/>
                  <a:sym typeface="Source Serif Pro"/>
                </a:rPr>
                <a:t>• Improved logistics &amp; GST system</a:t>
              </a:r>
            </a:p>
          </p:txBody>
        </p:sp>
      </p:grpSp>
      <p:grpSp>
        <p:nvGrpSpPr>
          <p:cNvPr name="Group 19" id="19"/>
          <p:cNvGrpSpPr/>
          <p:nvPr/>
        </p:nvGrpSpPr>
        <p:grpSpPr>
          <a:xfrm rot="0">
            <a:off x="5320076" y="3313530"/>
            <a:ext cx="4658191" cy="5944770"/>
            <a:chOff x="0" y="0"/>
            <a:chExt cx="1226849" cy="1565701"/>
          </a:xfrm>
        </p:grpSpPr>
        <p:sp>
          <p:nvSpPr>
            <p:cNvPr name="Freeform 20" id="20"/>
            <p:cNvSpPr/>
            <p:nvPr/>
          </p:nvSpPr>
          <p:spPr>
            <a:xfrm flipH="false" flipV="false" rot="0">
              <a:off x="0" y="0"/>
              <a:ext cx="1226849" cy="1565701"/>
            </a:xfrm>
            <a:custGeom>
              <a:avLst/>
              <a:gdLst/>
              <a:ahLst/>
              <a:cxnLst/>
              <a:rect r="r" b="b" t="t" l="l"/>
              <a:pathLst>
                <a:path h="1565701" w="1226849">
                  <a:moveTo>
                    <a:pt x="84762" y="0"/>
                  </a:moveTo>
                  <a:lnTo>
                    <a:pt x="1142087" y="0"/>
                  </a:lnTo>
                  <a:cubicBezTo>
                    <a:pt x="1188900" y="0"/>
                    <a:pt x="1226849" y="37949"/>
                    <a:pt x="1226849" y="84762"/>
                  </a:cubicBezTo>
                  <a:lnTo>
                    <a:pt x="1226849" y="1480939"/>
                  </a:lnTo>
                  <a:cubicBezTo>
                    <a:pt x="1226849" y="1503419"/>
                    <a:pt x="1217918" y="1524978"/>
                    <a:pt x="1202023" y="1540874"/>
                  </a:cubicBezTo>
                  <a:cubicBezTo>
                    <a:pt x="1186127" y="1556770"/>
                    <a:pt x="1164567" y="1565701"/>
                    <a:pt x="1142087" y="1565701"/>
                  </a:cubicBezTo>
                  <a:lnTo>
                    <a:pt x="84762" y="1565701"/>
                  </a:lnTo>
                  <a:cubicBezTo>
                    <a:pt x="37949" y="1565701"/>
                    <a:pt x="0" y="1527751"/>
                    <a:pt x="0" y="1480939"/>
                  </a:cubicBezTo>
                  <a:lnTo>
                    <a:pt x="0" y="84762"/>
                  </a:lnTo>
                  <a:cubicBezTo>
                    <a:pt x="0" y="37949"/>
                    <a:pt x="37949" y="0"/>
                    <a:pt x="84762" y="0"/>
                  </a:cubicBezTo>
                  <a:close/>
                </a:path>
              </a:pathLst>
            </a:custGeom>
            <a:ln w="28575" cap="rnd">
              <a:solidFill>
                <a:srgbClr val="000000"/>
              </a:solidFill>
              <a:prstDash val="solid"/>
              <a:round/>
            </a:ln>
          </p:spPr>
        </p:sp>
        <p:sp>
          <p:nvSpPr>
            <p:cNvPr name="TextBox 21" id="21"/>
            <p:cNvSpPr txBox="true"/>
            <p:nvPr/>
          </p:nvSpPr>
          <p:spPr>
            <a:xfrm>
              <a:off x="0" y="-47625"/>
              <a:ext cx="1226849" cy="1613326"/>
            </a:xfrm>
            <a:prstGeom prst="rect">
              <a:avLst/>
            </a:prstGeom>
          </p:spPr>
          <p:txBody>
            <a:bodyPr anchor="ctr" rtlCol="false" tIns="50800" lIns="50800" bIns="50800" rIns="50800"/>
            <a:lstStyle/>
            <a:p>
              <a:pPr algn="l">
                <a:lnSpc>
                  <a:spcPts val="3779"/>
                </a:lnSpc>
              </a:pPr>
              <a:r>
                <a:rPr lang="en-US" sz="2699">
                  <a:solidFill>
                    <a:srgbClr val="000000"/>
                  </a:solidFill>
                  <a:latin typeface="Source Serif Pro"/>
                  <a:ea typeface="Source Serif Pro"/>
                  <a:cs typeface="Source Serif Pro"/>
                  <a:sym typeface="Source Serif Pro"/>
                </a:rPr>
                <a:t>• Urbanisation increasing demand for compact furniture </a:t>
              </a:r>
            </a:p>
            <a:p>
              <a:pPr algn="l">
                <a:lnSpc>
                  <a:spcPts val="3779"/>
                </a:lnSpc>
              </a:pPr>
              <a:r>
                <a:rPr lang="en-US" sz="2699">
                  <a:solidFill>
                    <a:srgbClr val="000000"/>
                  </a:solidFill>
                  <a:latin typeface="Source Serif Pro"/>
                  <a:ea typeface="Source Serif Pro"/>
                  <a:cs typeface="Source Serif Pro"/>
                  <a:sym typeface="Source Serif Pro"/>
                </a:rPr>
                <a:t>• Rising middle-class incomes </a:t>
              </a:r>
            </a:p>
            <a:p>
              <a:pPr algn="l">
                <a:lnSpc>
                  <a:spcPts val="3779"/>
                </a:lnSpc>
              </a:pPr>
              <a:r>
                <a:rPr lang="en-US" sz="2699">
                  <a:solidFill>
                    <a:srgbClr val="000000"/>
                  </a:solidFill>
                  <a:latin typeface="Source Serif Pro"/>
                  <a:ea typeface="Source Serif Pro"/>
                  <a:cs typeface="Source Serif Pro"/>
                  <a:sym typeface="Source Serif Pro"/>
                </a:rPr>
                <a:t>• Raw material price fluctuations </a:t>
              </a:r>
            </a:p>
            <a:p>
              <a:pPr algn="l">
                <a:lnSpc>
                  <a:spcPts val="3779"/>
                </a:lnSpc>
              </a:pPr>
              <a:r>
                <a:rPr lang="en-US" sz="2699">
                  <a:solidFill>
                    <a:srgbClr val="000000"/>
                  </a:solidFill>
                  <a:latin typeface="Source Serif Pro"/>
                  <a:ea typeface="Source Serif Pro"/>
                  <a:cs typeface="Source Serif Pro"/>
                  <a:sym typeface="Source Serif Pro"/>
                </a:rPr>
                <a:t>• Growth in e-commerce furniture sales</a:t>
              </a:r>
            </a:p>
          </p:txBody>
        </p:sp>
      </p:grpSp>
      <p:grpSp>
        <p:nvGrpSpPr>
          <p:cNvPr name="Group 22" id="22"/>
          <p:cNvGrpSpPr/>
          <p:nvPr/>
        </p:nvGrpSpPr>
        <p:grpSpPr>
          <a:xfrm rot="0">
            <a:off x="10283146" y="3313530"/>
            <a:ext cx="4658191" cy="5944770"/>
            <a:chOff x="0" y="0"/>
            <a:chExt cx="1226849" cy="1565701"/>
          </a:xfrm>
        </p:grpSpPr>
        <p:sp>
          <p:nvSpPr>
            <p:cNvPr name="Freeform 23" id="23"/>
            <p:cNvSpPr/>
            <p:nvPr/>
          </p:nvSpPr>
          <p:spPr>
            <a:xfrm flipH="false" flipV="false" rot="0">
              <a:off x="0" y="0"/>
              <a:ext cx="1226849" cy="1565701"/>
            </a:xfrm>
            <a:custGeom>
              <a:avLst/>
              <a:gdLst/>
              <a:ahLst/>
              <a:cxnLst/>
              <a:rect r="r" b="b" t="t" l="l"/>
              <a:pathLst>
                <a:path h="1565701" w="1226849">
                  <a:moveTo>
                    <a:pt x="84762" y="0"/>
                  </a:moveTo>
                  <a:lnTo>
                    <a:pt x="1142087" y="0"/>
                  </a:lnTo>
                  <a:cubicBezTo>
                    <a:pt x="1188900" y="0"/>
                    <a:pt x="1226849" y="37949"/>
                    <a:pt x="1226849" y="84762"/>
                  </a:cubicBezTo>
                  <a:lnTo>
                    <a:pt x="1226849" y="1480939"/>
                  </a:lnTo>
                  <a:cubicBezTo>
                    <a:pt x="1226849" y="1503419"/>
                    <a:pt x="1217918" y="1524978"/>
                    <a:pt x="1202023" y="1540874"/>
                  </a:cubicBezTo>
                  <a:cubicBezTo>
                    <a:pt x="1186127" y="1556770"/>
                    <a:pt x="1164567" y="1565701"/>
                    <a:pt x="1142087" y="1565701"/>
                  </a:cubicBezTo>
                  <a:lnTo>
                    <a:pt x="84762" y="1565701"/>
                  </a:lnTo>
                  <a:cubicBezTo>
                    <a:pt x="37949" y="1565701"/>
                    <a:pt x="0" y="1527751"/>
                    <a:pt x="0" y="1480939"/>
                  </a:cubicBezTo>
                  <a:lnTo>
                    <a:pt x="0" y="84762"/>
                  </a:lnTo>
                  <a:cubicBezTo>
                    <a:pt x="0" y="37949"/>
                    <a:pt x="37949" y="0"/>
                    <a:pt x="84762" y="0"/>
                  </a:cubicBezTo>
                  <a:close/>
                </a:path>
              </a:pathLst>
            </a:custGeom>
            <a:ln w="28575" cap="rnd">
              <a:solidFill>
                <a:srgbClr val="000000"/>
              </a:solidFill>
              <a:prstDash val="solid"/>
              <a:round/>
            </a:ln>
          </p:spPr>
        </p:sp>
        <p:sp>
          <p:nvSpPr>
            <p:cNvPr name="TextBox 24" id="24"/>
            <p:cNvSpPr txBox="true"/>
            <p:nvPr/>
          </p:nvSpPr>
          <p:spPr>
            <a:xfrm>
              <a:off x="0" y="-47625"/>
              <a:ext cx="1226849" cy="1613326"/>
            </a:xfrm>
            <a:prstGeom prst="rect">
              <a:avLst/>
            </a:prstGeom>
          </p:spPr>
          <p:txBody>
            <a:bodyPr anchor="ctr" rtlCol="false" tIns="50800" lIns="50800" bIns="50800" rIns="50800"/>
            <a:lstStyle/>
            <a:p>
              <a:pPr algn="l">
                <a:lnSpc>
                  <a:spcPts val="3779"/>
                </a:lnSpc>
              </a:pPr>
              <a:r>
                <a:rPr lang="en-US" sz="2699">
                  <a:solidFill>
                    <a:srgbClr val="000000"/>
                  </a:solidFill>
                  <a:latin typeface="Source Serif Pro"/>
                  <a:ea typeface="Source Serif Pro"/>
                  <a:cs typeface="Source Serif Pro"/>
                  <a:sym typeface="Source Serif Pro"/>
                </a:rPr>
                <a:t>• Preference for minimalistic, organised homes </a:t>
              </a:r>
            </a:p>
            <a:p>
              <a:pPr algn="l">
                <a:lnSpc>
                  <a:spcPts val="3779"/>
                </a:lnSpc>
              </a:pPr>
              <a:r>
                <a:rPr lang="en-US" sz="2699">
                  <a:solidFill>
                    <a:srgbClr val="000000"/>
                  </a:solidFill>
                  <a:latin typeface="Source Serif Pro"/>
                  <a:ea typeface="Source Serif Pro"/>
                  <a:cs typeface="Source Serif Pro"/>
                  <a:sym typeface="Source Serif Pro"/>
                </a:rPr>
                <a:t>• WFH increasing need for workstations </a:t>
              </a:r>
            </a:p>
            <a:p>
              <a:pPr algn="l">
                <a:lnSpc>
                  <a:spcPts val="3779"/>
                </a:lnSpc>
              </a:pPr>
              <a:r>
                <a:rPr lang="en-US" sz="2699">
                  <a:solidFill>
                    <a:srgbClr val="000000"/>
                  </a:solidFill>
                  <a:latin typeface="Source Serif Pro"/>
                  <a:ea typeface="Source Serif Pro"/>
                  <a:cs typeface="Source Serif Pro"/>
                  <a:sym typeface="Source Serif Pro"/>
                </a:rPr>
                <a:t>• Growing interest in sustainable living </a:t>
              </a:r>
            </a:p>
            <a:p>
              <a:pPr algn="l">
                <a:lnSpc>
                  <a:spcPts val="3779"/>
                </a:lnSpc>
              </a:pPr>
              <a:r>
                <a:rPr lang="en-US" sz="2699">
                  <a:solidFill>
                    <a:srgbClr val="000000"/>
                  </a:solidFill>
                  <a:latin typeface="Source Serif Pro"/>
                  <a:ea typeface="Source Serif Pro"/>
                  <a:cs typeface="Source Serif Pro"/>
                  <a:sym typeface="Source Serif Pro"/>
                </a:rPr>
                <a:t>• Younger consumers prefer portable/foldable designs</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928039">
            <a:off x="14851901" y="-1724152"/>
            <a:ext cx="5495217" cy="5475234"/>
          </a:xfrm>
          <a:custGeom>
            <a:avLst/>
            <a:gdLst/>
            <a:ahLst/>
            <a:cxnLst/>
            <a:rect r="r" b="b" t="t" l="l"/>
            <a:pathLst>
              <a:path h="5475234" w="5495217">
                <a:moveTo>
                  <a:pt x="0" y="0"/>
                </a:moveTo>
                <a:lnTo>
                  <a:pt x="5495216" y="0"/>
                </a:lnTo>
                <a:lnTo>
                  <a:pt x="5495216" y="5475234"/>
                </a:lnTo>
                <a:lnTo>
                  <a:pt x="0" y="5475234"/>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97924" y="207660"/>
            <a:ext cx="4262637" cy="3403551"/>
          </a:xfrm>
          <a:custGeom>
            <a:avLst/>
            <a:gdLst/>
            <a:ahLst/>
            <a:cxnLst/>
            <a:rect r="r" b="b" t="t" l="l"/>
            <a:pathLst>
              <a:path h="3403551" w="4262637">
                <a:moveTo>
                  <a:pt x="0" y="0"/>
                </a:moveTo>
                <a:lnTo>
                  <a:pt x="4262637" y="0"/>
                </a:lnTo>
                <a:lnTo>
                  <a:pt x="4262637" y="3403552"/>
                </a:lnTo>
                <a:lnTo>
                  <a:pt x="0" y="34035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67255" y="3611212"/>
            <a:ext cx="2161339" cy="1499625"/>
          </a:xfrm>
          <a:custGeom>
            <a:avLst/>
            <a:gdLst/>
            <a:ahLst/>
            <a:cxnLst/>
            <a:rect r="r" b="b" t="t" l="l"/>
            <a:pathLst>
              <a:path h="1499625" w="2161339">
                <a:moveTo>
                  <a:pt x="0" y="0"/>
                </a:moveTo>
                <a:lnTo>
                  <a:pt x="2161340" y="0"/>
                </a:lnTo>
                <a:lnTo>
                  <a:pt x="2161340" y="1499625"/>
                </a:lnTo>
                <a:lnTo>
                  <a:pt x="0" y="14996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686585" y="4361024"/>
            <a:ext cx="2161339" cy="1499625"/>
          </a:xfrm>
          <a:custGeom>
            <a:avLst/>
            <a:gdLst/>
            <a:ahLst/>
            <a:cxnLst/>
            <a:rect r="r" b="b" t="t" l="l"/>
            <a:pathLst>
              <a:path h="1499625" w="2161339">
                <a:moveTo>
                  <a:pt x="0" y="0"/>
                </a:moveTo>
                <a:lnTo>
                  <a:pt x="2161340" y="0"/>
                </a:lnTo>
                <a:lnTo>
                  <a:pt x="2161340" y="1499625"/>
                </a:lnTo>
                <a:lnTo>
                  <a:pt x="0" y="14996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31565" y="1909436"/>
            <a:ext cx="4658191" cy="1108819"/>
            <a:chOff x="0" y="0"/>
            <a:chExt cx="1226849" cy="292035"/>
          </a:xfrm>
        </p:grpSpPr>
        <p:sp>
          <p:nvSpPr>
            <p:cNvPr name="Freeform 7" id="7"/>
            <p:cNvSpPr/>
            <p:nvPr/>
          </p:nvSpPr>
          <p:spPr>
            <a:xfrm flipH="false" flipV="false" rot="0">
              <a:off x="0" y="0"/>
              <a:ext cx="1226849" cy="292035"/>
            </a:xfrm>
            <a:custGeom>
              <a:avLst/>
              <a:gdLst/>
              <a:ahLst/>
              <a:cxnLst/>
              <a:rect r="r" b="b" t="t" l="l"/>
              <a:pathLst>
                <a:path h="292035" w="1226849">
                  <a:moveTo>
                    <a:pt x="84762" y="0"/>
                  </a:moveTo>
                  <a:lnTo>
                    <a:pt x="1142087" y="0"/>
                  </a:lnTo>
                  <a:cubicBezTo>
                    <a:pt x="1188900" y="0"/>
                    <a:pt x="1226849" y="37949"/>
                    <a:pt x="1226849" y="84762"/>
                  </a:cubicBezTo>
                  <a:lnTo>
                    <a:pt x="1226849" y="207273"/>
                  </a:lnTo>
                  <a:cubicBezTo>
                    <a:pt x="1226849" y="229753"/>
                    <a:pt x="1217918" y="251312"/>
                    <a:pt x="1202023" y="267208"/>
                  </a:cubicBezTo>
                  <a:cubicBezTo>
                    <a:pt x="1186127" y="283104"/>
                    <a:pt x="1164567" y="292035"/>
                    <a:pt x="1142087" y="292035"/>
                  </a:cubicBezTo>
                  <a:lnTo>
                    <a:pt x="84762" y="292035"/>
                  </a:lnTo>
                  <a:cubicBezTo>
                    <a:pt x="62282" y="292035"/>
                    <a:pt x="40722" y="283104"/>
                    <a:pt x="24826" y="267208"/>
                  </a:cubicBezTo>
                  <a:cubicBezTo>
                    <a:pt x="8930" y="251312"/>
                    <a:pt x="0" y="229753"/>
                    <a:pt x="0" y="207273"/>
                  </a:cubicBezTo>
                  <a:lnTo>
                    <a:pt x="0" y="84762"/>
                  </a:lnTo>
                  <a:cubicBezTo>
                    <a:pt x="0" y="37949"/>
                    <a:pt x="37949" y="0"/>
                    <a:pt x="84762" y="0"/>
                  </a:cubicBezTo>
                  <a:close/>
                </a:path>
              </a:pathLst>
            </a:custGeom>
            <a:ln w="28575" cap="rnd">
              <a:solidFill>
                <a:srgbClr val="000000"/>
              </a:solidFill>
              <a:prstDash val="solid"/>
              <a:round/>
            </a:ln>
          </p:spPr>
        </p:sp>
        <p:sp>
          <p:nvSpPr>
            <p:cNvPr name="TextBox 8" id="8"/>
            <p:cNvSpPr txBox="true"/>
            <p:nvPr/>
          </p:nvSpPr>
          <p:spPr>
            <a:xfrm>
              <a:off x="0" y="-57150"/>
              <a:ext cx="1226849" cy="349185"/>
            </a:xfrm>
            <a:prstGeom prst="rect">
              <a:avLst/>
            </a:prstGeom>
          </p:spPr>
          <p:txBody>
            <a:bodyPr anchor="ctr" rtlCol="false" tIns="50800" lIns="50800" bIns="50800" rIns="50800"/>
            <a:lstStyle/>
            <a:p>
              <a:pPr algn="ctr">
                <a:lnSpc>
                  <a:spcPts val="3919"/>
                </a:lnSpc>
              </a:pPr>
              <a:r>
                <a:rPr lang="en-US" sz="2799">
                  <a:solidFill>
                    <a:srgbClr val="000000"/>
                  </a:solidFill>
                  <a:latin typeface="Source Serif Pro"/>
                  <a:ea typeface="Source Serif Pro"/>
                  <a:cs typeface="Source Serif Pro"/>
                  <a:sym typeface="Source Serif Pro"/>
                </a:rPr>
                <a:t>Technological</a:t>
              </a:r>
            </a:p>
          </p:txBody>
        </p:sp>
      </p:grpSp>
      <p:grpSp>
        <p:nvGrpSpPr>
          <p:cNvPr name="Group 9" id="9"/>
          <p:cNvGrpSpPr/>
          <p:nvPr/>
        </p:nvGrpSpPr>
        <p:grpSpPr>
          <a:xfrm rot="0">
            <a:off x="5320076" y="1909436"/>
            <a:ext cx="4658191" cy="1108819"/>
            <a:chOff x="0" y="0"/>
            <a:chExt cx="1226849" cy="292035"/>
          </a:xfrm>
        </p:grpSpPr>
        <p:sp>
          <p:nvSpPr>
            <p:cNvPr name="Freeform 10" id="10"/>
            <p:cNvSpPr/>
            <p:nvPr/>
          </p:nvSpPr>
          <p:spPr>
            <a:xfrm flipH="false" flipV="false" rot="0">
              <a:off x="0" y="0"/>
              <a:ext cx="1226849" cy="292035"/>
            </a:xfrm>
            <a:custGeom>
              <a:avLst/>
              <a:gdLst/>
              <a:ahLst/>
              <a:cxnLst/>
              <a:rect r="r" b="b" t="t" l="l"/>
              <a:pathLst>
                <a:path h="292035" w="1226849">
                  <a:moveTo>
                    <a:pt x="84762" y="0"/>
                  </a:moveTo>
                  <a:lnTo>
                    <a:pt x="1142087" y="0"/>
                  </a:lnTo>
                  <a:cubicBezTo>
                    <a:pt x="1188900" y="0"/>
                    <a:pt x="1226849" y="37949"/>
                    <a:pt x="1226849" y="84762"/>
                  </a:cubicBezTo>
                  <a:lnTo>
                    <a:pt x="1226849" y="207273"/>
                  </a:lnTo>
                  <a:cubicBezTo>
                    <a:pt x="1226849" y="229753"/>
                    <a:pt x="1217918" y="251312"/>
                    <a:pt x="1202023" y="267208"/>
                  </a:cubicBezTo>
                  <a:cubicBezTo>
                    <a:pt x="1186127" y="283104"/>
                    <a:pt x="1164567" y="292035"/>
                    <a:pt x="1142087" y="292035"/>
                  </a:cubicBezTo>
                  <a:lnTo>
                    <a:pt x="84762" y="292035"/>
                  </a:lnTo>
                  <a:cubicBezTo>
                    <a:pt x="62282" y="292035"/>
                    <a:pt x="40722" y="283104"/>
                    <a:pt x="24826" y="267208"/>
                  </a:cubicBezTo>
                  <a:cubicBezTo>
                    <a:pt x="8930" y="251312"/>
                    <a:pt x="0" y="229753"/>
                    <a:pt x="0" y="207273"/>
                  </a:cubicBezTo>
                  <a:lnTo>
                    <a:pt x="0" y="84762"/>
                  </a:lnTo>
                  <a:cubicBezTo>
                    <a:pt x="0" y="37949"/>
                    <a:pt x="37949" y="0"/>
                    <a:pt x="84762" y="0"/>
                  </a:cubicBezTo>
                  <a:close/>
                </a:path>
              </a:pathLst>
            </a:custGeom>
            <a:ln w="28575" cap="rnd">
              <a:solidFill>
                <a:srgbClr val="000000"/>
              </a:solidFill>
              <a:prstDash val="solid"/>
              <a:round/>
            </a:ln>
          </p:spPr>
        </p:sp>
        <p:sp>
          <p:nvSpPr>
            <p:cNvPr name="TextBox 11" id="11"/>
            <p:cNvSpPr txBox="true"/>
            <p:nvPr/>
          </p:nvSpPr>
          <p:spPr>
            <a:xfrm>
              <a:off x="0" y="-57150"/>
              <a:ext cx="1226849" cy="349185"/>
            </a:xfrm>
            <a:prstGeom prst="rect">
              <a:avLst/>
            </a:prstGeom>
          </p:spPr>
          <p:txBody>
            <a:bodyPr anchor="ctr" rtlCol="false" tIns="50800" lIns="50800" bIns="50800" rIns="50800"/>
            <a:lstStyle/>
            <a:p>
              <a:pPr algn="ctr">
                <a:lnSpc>
                  <a:spcPts val="3919"/>
                </a:lnSpc>
              </a:pPr>
              <a:r>
                <a:rPr lang="en-US" sz="2799">
                  <a:solidFill>
                    <a:srgbClr val="000000"/>
                  </a:solidFill>
                  <a:latin typeface="Source Serif Pro"/>
                  <a:ea typeface="Source Serif Pro"/>
                  <a:cs typeface="Source Serif Pro"/>
                  <a:sym typeface="Source Serif Pro"/>
                </a:rPr>
                <a:t>Environmental</a:t>
              </a:r>
            </a:p>
          </p:txBody>
        </p:sp>
      </p:grpSp>
      <p:grpSp>
        <p:nvGrpSpPr>
          <p:cNvPr name="Group 12" id="12"/>
          <p:cNvGrpSpPr/>
          <p:nvPr/>
        </p:nvGrpSpPr>
        <p:grpSpPr>
          <a:xfrm rot="0">
            <a:off x="10283146" y="1909436"/>
            <a:ext cx="4658191" cy="1108819"/>
            <a:chOff x="0" y="0"/>
            <a:chExt cx="1226849" cy="292035"/>
          </a:xfrm>
        </p:grpSpPr>
        <p:sp>
          <p:nvSpPr>
            <p:cNvPr name="Freeform 13" id="13"/>
            <p:cNvSpPr/>
            <p:nvPr/>
          </p:nvSpPr>
          <p:spPr>
            <a:xfrm flipH="false" flipV="false" rot="0">
              <a:off x="0" y="0"/>
              <a:ext cx="1226849" cy="292035"/>
            </a:xfrm>
            <a:custGeom>
              <a:avLst/>
              <a:gdLst/>
              <a:ahLst/>
              <a:cxnLst/>
              <a:rect r="r" b="b" t="t" l="l"/>
              <a:pathLst>
                <a:path h="292035" w="1226849">
                  <a:moveTo>
                    <a:pt x="84762" y="0"/>
                  </a:moveTo>
                  <a:lnTo>
                    <a:pt x="1142087" y="0"/>
                  </a:lnTo>
                  <a:cubicBezTo>
                    <a:pt x="1188900" y="0"/>
                    <a:pt x="1226849" y="37949"/>
                    <a:pt x="1226849" y="84762"/>
                  </a:cubicBezTo>
                  <a:lnTo>
                    <a:pt x="1226849" y="207273"/>
                  </a:lnTo>
                  <a:cubicBezTo>
                    <a:pt x="1226849" y="229753"/>
                    <a:pt x="1217918" y="251312"/>
                    <a:pt x="1202023" y="267208"/>
                  </a:cubicBezTo>
                  <a:cubicBezTo>
                    <a:pt x="1186127" y="283104"/>
                    <a:pt x="1164567" y="292035"/>
                    <a:pt x="1142087" y="292035"/>
                  </a:cubicBezTo>
                  <a:lnTo>
                    <a:pt x="84762" y="292035"/>
                  </a:lnTo>
                  <a:cubicBezTo>
                    <a:pt x="62282" y="292035"/>
                    <a:pt x="40722" y="283104"/>
                    <a:pt x="24826" y="267208"/>
                  </a:cubicBezTo>
                  <a:cubicBezTo>
                    <a:pt x="8930" y="251312"/>
                    <a:pt x="0" y="229753"/>
                    <a:pt x="0" y="207273"/>
                  </a:cubicBezTo>
                  <a:lnTo>
                    <a:pt x="0" y="84762"/>
                  </a:lnTo>
                  <a:cubicBezTo>
                    <a:pt x="0" y="37949"/>
                    <a:pt x="37949" y="0"/>
                    <a:pt x="84762" y="0"/>
                  </a:cubicBezTo>
                  <a:close/>
                </a:path>
              </a:pathLst>
            </a:custGeom>
            <a:ln w="28575" cap="rnd">
              <a:solidFill>
                <a:srgbClr val="000000"/>
              </a:solidFill>
              <a:prstDash val="solid"/>
              <a:round/>
            </a:ln>
          </p:spPr>
        </p:sp>
        <p:sp>
          <p:nvSpPr>
            <p:cNvPr name="TextBox 14" id="14"/>
            <p:cNvSpPr txBox="true"/>
            <p:nvPr/>
          </p:nvSpPr>
          <p:spPr>
            <a:xfrm>
              <a:off x="0" y="-57150"/>
              <a:ext cx="1226849" cy="349185"/>
            </a:xfrm>
            <a:prstGeom prst="rect">
              <a:avLst/>
            </a:prstGeom>
          </p:spPr>
          <p:txBody>
            <a:bodyPr anchor="ctr" rtlCol="false" tIns="50800" lIns="50800" bIns="50800" rIns="50800"/>
            <a:lstStyle/>
            <a:p>
              <a:pPr algn="ctr">
                <a:lnSpc>
                  <a:spcPts val="3919"/>
                </a:lnSpc>
              </a:pPr>
              <a:r>
                <a:rPr lang="en-US" sz="2799">
                  <a:solidFill>
                    <a:srgbClr val="000000"/>
                  </a:solidFill>
                  <a:latin typeface="Source Serif Pro"/>
                  <a:ea typeface="Source Serif Pro"/>
                  <a:cs typeface="Source Serif Pro"/>
                  <a:sym typeface="Source Serif Pro"/>
                </a:rPr>
                <a:t>Legal</a:t>
              </a:r>
            </a:p>
          </p:txBody>
        </p:sp>
      </p:grpSp>
      <p:sp>
        <p:nvSpPr>
          <p:cNvPr name="TextBox 15" id="15"/>
          <p:cNvSpPr txBox="true"/>
          <p:nvPr/>
        </p:nvSpPr>
        <p:spPr>
          <a:xfrm rot="0">
            <a:off x="501605" y="636905"/>
            <a:ext cx="12236077" cy="981720"/>
          </a:xfrm>
          <a:prstGeom prst="rect">
            <a:avLst/>
          </a:prstGeom>
        </p:spPr>
        <p:txBody>
          <a:bodyPr anchor="t" rtlCol="false" tIns="0" lIns="0" bIns="0" rIns="0">
            <a:spAutoFit/>
          </a:bodyPr>
          <a:lstStyle/>
          <a:p>
            <a:pPr algn="l">
              <a:lnSpc>
                <a:spcPts val="7120"/>
              </a:lnSpc>
            </a:pPr>
            <a:r>
              <a:rPr lang="en-US" sz="8000" b="true">
                <a:solidFill>
                  <a:srgbClr val="111111"/>
                </a:solidFill>
                <a:latin typeface="Source Serif Pro Bold"/>
                <a:ea typeface="Source Serif Pro Bold"/>
                <a:cs typeface="Source Serif Pro Bold"/>
                <a:sym typeface="Source Serif Pro Bold"/>
              </a:rPr>
              <a:t>Macro Economic Aspect</a:t>
            </a:r>
          </a:p>
        </p:txBody>
      </p:sp>
      <p:grpSp>
        <p:nvGrpSpPr>
          <p:cNvPr name="Group 16" id="16"/>
          <p:cNvGrpSpPr/>
          <p:nvPr/>
        </p:nvGrpSpPr>
        <p:grpSpPr>
          <a:xfrm rot="0">
            <a:off x="231565" y="3313530"/>
            <a:ext cx="4658191" cy="5944770"/>
            <a:chOff x="0" y="0"/>
            <a:chExt cx="1226849" cy="1565701"/>
          </a:xfrm>
        </p:grpSpPr>
        <p:sp>
          <p:nvSpPr>
            <p:cNvPr name="Freeform 17" id="17"/>
            <p:cNvSpPr/>
            <p:nvPr/>
          </p:nvSpPr>
          <p:spPr>
            <a:xfrm flipH="false" flipV="false" rot="0">
              <a:off x="0" y="0"/>
              <a:ext cx="1226849" cy="1565701"/>
            </a:xfrm>
            <a:custGeom>
              <a:avLst/>
              <a:gdLst/>
              <a:ahLst/>
              <a:cxnLst/>
              <a:rect r="r" b="b" t="t" l="l"/>
              <a:pathLst>
                <a:path h="1565701" w="1226849">
                  <a:moveTo>
                    <a:pt x="84762" y="0"/>
                  </a:moveTo>
                  <a:lnTo>
                    <a:pt x="1142087" y="0"/>
                  </a:lnTo>
                  <a:cubicBezTo>
                    <a:pt x="1188900" y="0"/>
                    <a:pt x="1226849" y="37949"/>
                    <a:pt x="1226849" y="84762"/>
                  </a:cubicBezTo>
                  <a:lnTo>
                    <a:pt x="1226849" y="1480939"/>
                  </a:lnTo>
                  <a:cubicBezTo>
                    <a:pt x="1226849" y="1503419"/>
                    <a:pt x="1217918" y="1524978"/>
                    <a:pt x="1202023" y="1540874"/>
                  </a:cubicBezTo>
                  <a:cubicBezTo>
                    <a:pt x="1186127" y="1556770"/>
                    <a:pt x="1164567" y="1565701"/>
                    <a:pt x="1142087" y="1565701"/>
                  </a:cubicBezTo>
                  <a:lnTo>
                    <a:pt x="84762" y="1565701"/>
                  </a:lnTo>
                  <a:cubicBezTo>
                    <a:pt x="37949" y="1565701"/>
                    <a:pt x="0" y="1527751"/>
                    <a:pt x="0" y="1480939"/>
                  </a:cubicBezTo>
                  <a:lnTo>
                    <a:pt x="0" y="84762"/>
                  </a:lnTo>
                  <a:cubicBezTo>
                    <a:pt x="0" y="37949"/>
                    <a:pt x="37949" y="0"/>
                    <a:pt x="84762" y="0"/>
                  </a:cubicBezTo>
                  <a:close/>
                </a:path>
              </a:pathLst>
            </a:custGeom>
            <a:ln w="28575" cap="rnd">
              <a:solidFill>
                <a:srgbClr val="000000"/>
              </a:solidFill>
              <a:prstDash val="solid"/>
              <a:round/>
            </a:ln>
          </p:spPr>
        </p:sp>
        <p:sp>
          <p:nvSpPr>
            <p:cNvPr name="TextBox 18" id="18"/>
            <p:cNvSpPr txBox="true"/>
            <p:nvPr/>
          </p:nvSpPr>
          <p:spPr>
            <a:xfrm>
              <a:off x="0" y="-47625"/>
              <a:ext cx="1226849" cy="1613326"/>
            </a:xfrm>
            <a:prstGeom prst="rect">
              <a:avLst/>
            </a:prstGeom>
          </p:spPr>
          <p:txBody>
            <a:bodyPr anchor="ctr" rtlCol="false" tIns="50800" lIns="50800" bIns="50800" rIns="50800"/>
            <a:lstStyle/>
            <a:p>
              <a:pPr algn="l">
                <a:lnSpc>
                  <a:spcPts val="3779"/>
                </a:lnSpc>
              </a:pPr>
              <a:r>
                <a:rPr lang="en-US" sz="2699">
                  <a:solidFill>
                    <a:srgbClr val="000000"/>
                  </a:solidFill>
                  <a:latin typeface="Source Serif Pro"/>
                  <a:ea typeface="Source Serif Pro"/>
                  <a:cs typeface="Source Serif Pro"/>
                  <a:sym typeface="Source Serif Pro"/>
                </a:rPr>
                <a:t>• Advancements in CNC machining &amp; modular design </a:t>
              </a:r>
            </a:p>
            <a:p>
              <a:pPr algn="l">
                <a:lnSpc>
                  <a:spcPts val="3779"/>
                </a:lnSpc>
              </a:pPr>
              <a:r>
                <a:rPr lang="en-US" sz="2699">
                  <a:solidFill>
                    <a:srgbClr val="000000"/>
                  </a:solidFill>
                  <a:latin typeface="Source Serif Pro"/>
                  <a:ea typeface="Source Serif Pro"/>
                  <a:cs typeface="Source Serif Pro"/>
                  <a:sym typeface="Source Serif Pro"/>
                </a:rPr>
                <a:t>• Growth of e-commerce platforms </a:t>
              </a:r>
            </a:p>
            <a:p>
              <a:pPr algn="l">
                <a:lnSpc>
                  <a:spcPts val="3779"/>
                </a:lnSpc>
              </a:pPr>
              <a:r>
                <a:rPr lang="en-US" sz="2699">
                  <a:solidFill>
                    <a:srgbClr val="000000"/>
                  </a:solidFill>
                  <a:latin typeface="Source Serif Pro"/>
                  <a:ea typeface="Source Serif Pro"/>
                  <a:cs typeface="Source Serif Pro"/>
                  <a:sym typeface="Source Serif Pro"/>
                </a:rPr>
                <a:t>• CAD tools improving design efficiency </a:t>
              </a:r>
            </a:p>
            <a:p>
              <a:pPr algn="l">
                <a:lnSpc>
                  <a:spcPts val="3779"/>
                </a:lnSpc>
              </a:pPr>
              <a:r>
                <a:rPr lang="en-US" sz="2699">
                  <a:solidFill>
                    <a:srgbClr val="000000"/>
                  </a:solidFill>
                  <a:latin typeface="Source Serif Pro"/>
                  <a:ea typeface="Source Serif Pro"/>
                  <a:cs typeface="Source Serif Pro"/>
                  <a:sym typeface="Source Serif Pro"/>
                </a:rPr>
                <a:t>• Improved logistics tracking technology</a:t>
              </a:r>
            </a:p>
          </p:txBody>
        </p:sp>
      </p:grpSp>
      <p:grpSp>
        <p:nvGrpSpPr>
          <p:cNvPr name="Group 19" id="19"/>
          <p:cNvGrpSpPr/>
          <p:nvPr/>
        </p:nvGrpSpPr>
        <p:grpSpPr>
          <a:xfrm rot="0">
            <a:off x="5320076" y="3313530"/>
            <a:ext cx="4658191" cy="5944770"/>
            <a:chOff x="0" y="0"/>
            <a:chExt cx="1226849" cy="1565701"/>
          </a:xfrm>
        </p:grpSpPr>
        <p:sp>
          <p:nvSpPr>
            <p:cNvPr name="Freeform 20" id="20"/>
            <p:cNvSpPr/>
            <p:nvPr/>
          </p:nvSpPr>
          <p:spPr>
            <a:xfrm flipH="false" flipV="false" rot="0">
              <a:off x="0" y="0"/>
              <a:ext cx="1226849" cy="1565701"/>
            </a:xfrm>
            <a:custGeom>
              <a:avLst/>
              <a:gdLst/>
              <a:ahLst/>
              <a:cxnLst/>
              <a:rect r="r" b="b" t="t" l="l"/>
              <a:pathLst>
                <a:path h="1565701" w="1226849">
                  <a:moveTo>
                    <a:pt x="84762" y="0"/>
                  </a:moveTo>
                  <a:lnTo>
                    <a:pt x="1142087" y="0"/>
                  </a:lnTo>
                  <a:cubicBezTo>
                    <a:pt x="1188900" y="0"/>
                    <a:pt x="1226849" y="37949"/>
                    <a:pt x="1226849" y="84762"/>
                  </a:cubicBezTo>
                  <a:lnTo>
                    <a:pt x="1226849" y="1480939"/>
                  </a:lnTo>
                  <a:cubicBezTo>
                    <a:pt x="1226849" y="1503419"/>
                    <a:pt x="1217918" y="1524978"/>
                    <a:pt x="1202023" y="1540874"/>
                  </a:cubicBezTo>
                  <a:cubicBezTo>
                    <a:pt x="1186127" y="1556770"/>
                    <a:pt x="1164567" y="1565701"/>
                    <a:pt x="1142087" y="1565701"/>
                  </a:cubicBezTo>
                  <a:lnTo>
                    <a:pt x="84762" y="1565701"/>
                  </a:lnTo>
                  <a:cubicBezTo>
                    <a:pt x="37949" y="1565701"/>
                    <a:pt x="0" y="1527751"/>
                    <a:pt x="0" y="1480939"/>
                  </a:cubicBezTo>
                  <a:lnTo>
                    <a:pt x="0" y="84762"/>
                  </a:lnTo>
                  <a:cubicBezTo>
                    <a:pt x="0" y="37949"/>
                    <a:pt x="37949" y="0"/>
                    <a:pt x="84762" y="0"/>
                  </a:cubicBezTo>
                  <a:close/>
                </a:path>
              </a:pathLst>
            </a:custGeom>
            <a:ln w="28575" cap="rnd">
              <a:solidFill>
                <a:srgbClr val="000000"/>
              </a:solidFill>
              <a:prstDash val="solid"/>
              <a:round/>
            </a:ln>
          </p:spPr>
        </p:sp>
        <p:sp>
          <p:nvSpPr>
            <p:cNvPr name="TextBox 21" id="21"/>
            <p:cNvSpPr txBox="true"/>
            <p:nvPr/>
          </p:nvSpPr>
          <p:spPr>
            <a:xfrm>
              <a:off x="0" y="-47625"/>
              <a:ext cx="1226849" cy="1613326"/>
            </a:xfrm>
            <a:prstGeom prst="rect">
              <a:avLst/>
            </a:prstGeom>
          </p:spPr>
          <p:txBody>
            <a:bodyPr anchor="ctr" rtlCol="false" tIns="50800" lIns="50800" bIns="50800" rIns="50800"/>
            <a:lstStyle/>
            <a:p>
              <a:pPr algn="l">
                <a:lnSpc>
                  <a:spcPts val="3779"/>
                </a:lnSpc>
              </a:pPr>
              <a:r>
                <a:rPr lang="en-US" sz="2699">
                  <a:solidFill>
                    <a:srgbClr val="000000"/>
                  </a:solidFill>
                  <a:latin typeface="Source Serif Pro"/>
                  <a:ea typeface="Source Serif Pro"/>
                  <a:cs typeface="Source Serif Pro"/>
                  <a:sym typeface="Source Serif Pro"/>
                </a:rPr>
                <a:t>• Increasing demand for eco-friendly materials </a:t>
              </a:r>
            </a:p>
            <a:p>
              <a:pPr algn="l">
                <a:lnSpc>
                  <a:spcPts val="3779"/>
                </a:lnSpc>
              </a:pPr>
              <a:r>
                <a:rPr lang="en-US" sz="2699">
                  <a:solidFill>
                    <a:srgbClr val="000000"/>
                  </a:solidFill>
                  <a:latin typeface="Source Serif Pro"/>
                  <a:ea typeface="Source Serif Pro"/>
                  <a:cs typeface="Source Serif Pro"/>
                  <a:sym typeface="Source Serif Pro"/>
                </a:rPr>
                <a:t>• Waste management and recycling norms </a:t>
              </a:r>
            </a:p>
            <a:p>
              <a:pPr algn="l">
                <a:lnSpc>
                  <a:spcPts val="3779"/>
                </a:lnSpc>
              </a:pPr>
              <a:r>
                <a:rPr lang="en-US" sz="2699">
                  <a:solidFill>
                    <a:srgbClr val="000000"/>
                  </a:solidFill>
                  <a:latin typeface="Source Serif Pro"/>
                  <a:ea typeface="Source Serif Pro"/>
                  <a:cs typeface="Source Serif Pro"/>
                  <a:sym typeface="Source Serif Pro"/>
                </a:rPr>
                <a:t>• Climate affecting raw material supply</a:t>
              </a:r>
            </a:p>
          </p:txBody>
        </p:sp>
      </p:grpSp>
      <p:grpSp>
        <p:nvGrpSpPr>
          <p:cNvPr name="Group 22" id="22"/>
          <p:cNvGrpSpPr/>
          <p:nvPr/>
        </p:nvGrpSpPr>
        <p:grpSpPr>
          <a:xfrm rot="0">
            <a:off x="10283146" y="3313530"/>
            <a:ext cx="4658191" cy="5944770"/>
            <a:chOff x="0" y="0"/>
            <a:chExt cx="1226849" cy="1565701"/>
          </a:xfrm>
        </p:grpSpPr>
        <p:sp>
          <p:nvSpPr>
            <p:cNvPr name="Freeform 23" id="23"/>
            <p:cNvSpPr/>
            <p:nvPr/>
          </p:nvSpPr>
          <p:spPr>
            <a:xfrm flipH="false" flipV="false" rot="0">
              <a:off x="0" y="0"/>
              <a:ext cx="1226849" cy="1565701"/>
            </a:xfrm>
            <a:custGeom>
              <a:avLst/>
              <a:gdLst/>
              <a:ahLst/>
              <a:cxnLst/>
              <a:rect r="r" b="b" t="t" l="l"/>
              <a:pathLst>
                <a:path h="1565701" w="1226849">
                  <a:moveTo>
                    <a:pt x="84762" y="0"/>
                  </a:moveTo>
                  <a:lnTo>
                    <a:pt x="1142087" y="0"/>
                  </a:lnTo>
                  <a:cubicBezTo>
                    <a:pt x="1188900" y="0"/>
                    <a:pt x="1226849" y="37949"/>
                    <a:pt x="1226849" y="84762"/>
                  </a:cubicBezTo>
                  <a:lnTo>
                    <a:pt x="1226849" y="1480939"/>
                  </a:lnTo>
                  <a:cubicBezTo>
                    <a:pt x="1226849" y="1503419"/>
                    <a:pt x="1217918" y="1524978"/>
                    <a:pt x="1202023" y="1540874"/>
                  </a:cubicBezTo>
                  <a:cubicBezTo>
                    <a:pt x="1186127" y="1556770"/>
                    <a:pt x="1164567" y="1565701"/>
                    <a:pt x="1142087" y="1565701"/>
                  </a:cubicBezTo>
                  <a:lnTo>
                    <a:pt x="84762" y="1565701"/>
                  </a:lnTo>
                  <a:cubicBezTo>
                    <a:pt x="37949" y="1565701"/>
                    <a:pt x="0" y="1527751"/>
                    <a:pt x="0" y="1480939"/>
                  </a:cubicBezTo>
                  <a:lnTo>
                    <a:pt x="0" y="84762"/>
                  </a:lnTo>
                  <a:cubicBezTo>
                    <a:pt x="0" y="37949"/>
                    <a:pt x="37949" y="0"/>
                    <a:pt x="84762" y="0"/>
                  </a:cubicBezTo>
                  <a:close/>
                </a:path>
              </a:pathLst>
            </a:custGeom>
            <a:ln w="28575" cap="rnd">
              <a:solidFill>
                <a:srgbClr val="000000"/>
              </a:solidFill>
              <a:prstDash val="solid"/>
              <a:round/>
            </a:ln>
          </p:spPr>
        </p:sp>
        <p:sp>
          <p:nvSpPr>
            <p:cNvPr name="TextBox 24" id="24"/>
            <p:cNvSpPr txBox="true"/>
            <p:nvPr/>
          </p:nvSpPr>
          <p:spPr>
            <a:xfrm>
              <a:off x="0" y="-47625"/>
              <a:ext cx="1226849" cy="1613326"/>
            </a:xfrm>
            <a:prstGeom prst="rect">
              <a:avLst/>
            </a:prstGeom>
          </p:spPr>
          <p:txBody>
            <a:bodyPr anchor="ctr" rtlCol="false" tIns="50800" lIns="50800" bIns="50800" rIns="50800"/>
            <a:lstStyle/>
            <a:p>
              <a:pPr algn="l">
                <a:lnSpc>
                  <a:spcPts val="3779"/>
                </a:lnSpc>
              </a:pPr>
            </a:p>
            <a:p>
              <a:pPr algn="l">
                <a:lnSpc>
                  <a:spcPts val="3779"/>
                </a:lnSpc>
              </a:pPr>
              <a:r>
                <a:rPr lang="en-US" sz="2699">
                  <a:solidFill>
                    <a:srgbClr val="000000"/>
                  </a:solidFill>
                  <a:latin typeface="Source Serif Pro"/>
                  <a:ea typeface="Source Serif Pro"/>
                  <a:cs typeface="Source Serif Pro"/>
                  <a:sym typeface="Source Serif Pro"/>
                </a:rPr>
                <a:t>• Labour safety &amp; fair wage regulations </a:t>
              </a:r>
            </a:p>
            <a:p>
              <a:pPr algn="l">
                <a:lnSpc>
                  <a:spcPts val="3779"/>
                </a:lnSpc>
              </a:pPr>
              <a:r>
                <a:rPr lang="en-US" sz="2699">
                  <a:solidFill>
                    <a:srgbClr val="000000"/>
                  </a:solidFill>
                  <a:latin typeface="Source Serif Pro"/>
                  <a:ea typeface="Source Serif Pro"/>
                  <a:cs typeface="Source Serif Pro"/>
                  <a:sym typeface="Source Serif Pro"/>
                </a:rPr>
                <a:t>• Consumer protection laws </a:t>
              </a:r>
            </a:p>
            <a:p>
              <a:pPr algn="l">
                <a:lnSpc>
                  <a:spcPts val="3779"/>
                </a:lnSpc>
              </a:pPr>
              <a:r>
                <a:rPr lang="en-US" sz="2699">
                  <a:solidFill>
                    <a:srgbClr val="000000"/>
                  </a:solidFill>
                  <a:latin typeface="Source Serif Pro"/>
                  <a:ea typeface="Source Serif Pro"/>
                  <a:cs typeface="Source Serif Pro"/>
                  <a:sym typeface="Source Serif Pro"/>
                </a:rPr>
                <a:t>• Environmental compliance standards </a:t>
              </a:r>
            </a:p>
            <a:p>
              <a:pPr algn="l">
                <a:lnSpc>
                  <a:spcPts val="3779"/>
                </a:lnSpc>
              </a:pPr>
              <a:r>
                <a:rPr lang="en-US" sz="2699">
                  <a:solidFill>
                    <a:srgbClr val="000000"/>
                  </a:solidFill>
                  <a:latin typeface="Source Serif Pro"/>
                  <a:ea typeface="Source Serif Pro"/>
                  <a:cs typeface="Source Serif Pro"/>
                  <a:sym typeface="Source Serif Pro"/>
                </a:rPr>
                <a:t>• GST and tax rules</a:t>
              </a:r>
            </a:p>
            <a:p>
              <a:pPr algn="l">
                <a:lnSpc>
                  <a:spcPts val="3779"/>
                </a:lnSpc>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1EEEA"/>
        </a:solidFill>
      </p:bgPr>
    </p:bg>
    <p:spTree>
      <p:nvGrpSpPr>
        <p:cNvPr id="1" name=""/>
        <p:cNvGrpSpPr/>
        <p:nvPr/>
      </p:nvGrpSpPr>
      <p:grpSpPr>
        <a:xfrm>
          <a:off x="0" y="0"/>
          <a:ext cx="0" cy="0"/>
          <a:chOff x="0" y="0"/>
          <a:chExt cx="0" cy="0"/>
        </a:xfrm>
      </p:grpSpPr>
      <p:sp>
        <p:nvSpPr>
          <p:cNvPr name="Freeform 2" id="2"/>
          <p:cNvSpPr/>
          <p:nvPr/>
        </p:nvSpPr>
        <p:spPr>
          <a:xfrm flipH="false" flipV="false" rot="-6752956">
            <a:off x="-3270103" y="-162176"/>
            <a:ext cx="10382670" cy="10344915"/>
          </a:xfrm>
          <a:custGeom>
            <a:avLst/>
            <a:gdLst/>
            <a:ahLst/>
            <a:cxnLst/>
            <a:rect r="r" b="b" t="t" l="l"/>
            <a:pathLst>
              <a:path h="10344915" w="10382670">
                <a:moveTo>
                  <a:pt x="0" y="0"/>
                </a:moveTo>
                <a:lnTo>
                  <a:pt x="10382670" y="0"/>
                </a:lnTo>
                <a:lnTo>
                  <a:pt x="10382670" y="10344915"/>
                </a:lnTo>
                <a:lnTo>
                  <a:pt x="0" y="10344915"/>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62852">
            <a:off x="725986" y="2105764"/>
            <a:ext cx="5076543" cy="4615039"/>
          </a:xfrm>
          <a:custGeom>
            <a:avLst/>
            <a:gdLst/>
            <a:ahLst/>
            <a:cxnLst/>
            <a:rect r="r" b="b" t="t" l="l"/>
            <a:pathLst>
              <a:path h="4615039" w="5076543">
                <a:moveTo>
                  <a:pt x="0" y="0"/>
                </a:moveTo>
                <a:lnTo>
                  <a:pt x="5076543" y="0"/>
                </a:lnTo>
                <a:lnTo>
                  <a:pt x="5076543" y="4615039"/>
                </a:lnTo>
                <a:lnTo>
                  <a:pt x="0" y="46150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318334" y="7359937"/>
            <a:ext cx="3748016" cy="2759903"/>
          </a:xfrm>
          <a:custGeom>
            <a:avLst/>
            <a:gdLst/>
            <a:ahLst/>
            <a:cxnLst/>
            <a:rect r="r" b="b" t="t" l="l"/>
            <a:pathLst>
              <a:path h="2759903" w="3748016">
                <a:moveTo>
                  <a:pt x="0" y="0"/>
                </a:moveTo>
                <a:lnTo>
                  <a:pt x="3748016" y="0"/>
                </a:lnTo>
                <a:lnTo>
                  <a:pt x="3748016" y="2759902"/>
                </a:lnTo>
                <a:lnTo>
                  <a:pt x="0" y="27599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484835">
            <a:off x="-28798" y="7008838"/>
            <a:ext cx="2430225" cy="2868292"/>
          </a:xfrm>
          <a:custGeom>
            <a:avLst/>
            <a:gdLst/>
            <a:ahLst/>
            <a:cxnLst/>
            <a:rect r="r" b="b" t="t" l="l"/>
            <a:pathLst>
              <a:path h="2868292" w="2430225">
                <a:moveTo>
                  <a:pt x="0" y="0"/>
                </a:moveTo>
                <a:lnTo>
                  <a:pt x="2430225" y="0"/>
                </a:lnTo>
                <a:lnTo>
                  <a:pt x="2430225" y="2868292"/>
                </a:lnTo>
                <a:lnTo>
                  <a:pt x="0" y="28682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8689017" y="3183352"/>
            <a:ext cx="8570283" cy="5192774"/>
          </a:xfrm>
          <a:prstGeom prst="rect">
            <a:avLst/>
          </a:prstGeom>
        </p:spPr>
        <p:txBody>
          <a:bodyPr anchor="t" rtlCol="false" tIns="0" lIns="0" bIns="0" rIns="0">
            <a:spAutoFit/>
          </a:bodyPr>
          <a:lstStyle/>
          <a:p>
            <a:pPr algn="l" marL="0" indent="0" lvl="0">
              <a:lnSpc>
                <a:spcPts val="19631"/>
              </a:lnSpc>
              <a:spcBef>
                <a:spcPct val="0"/>
              </a:spcBef>
            </a:pPr>
            <a:r>
              <a:rPr lang="en-US" b="true" sz="22058" strike="noStrike" u="none">
                <a:solidFill>
                  <a:srgbClr val="111111"/>
                </a:solidFill>
                <a:latin typeface="Source Serif Pro Bold"/>
                <a:ea typeface="Source Serif Pro Bold"/>
                <a:cs typeface="Source Serif Pro Bold"/>
                <a:sym typeface="Source Serif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DAG4MivQZAg</dc:identifier>
  <dcterms:modified xsi:type="dcterms:W3CDTF">2011-08-01T06:04:30Z</dcterms:modified>
  <cp:revision>1</cp:revision>
  <dc:title>Economics assignment 2</dc:title>
</cp:coreProperties>
</file>